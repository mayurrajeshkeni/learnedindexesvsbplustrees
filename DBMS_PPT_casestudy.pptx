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40" r:id="rId5"/>
    <p:sldId id="356" r:id="rId6"/>
    <p:sldId id="357" r:id="rId7"/>
    <p:sldId id="358" r:id="rId8"/>
    <p:sldId id="256" r:id="rId9"/>
    <p:sldId id="359" r:id="rId10"/>
    <p:sldId id="360" r:id="rId11"/>
    <p:sldId id="361" r:id="rId12"/>
    <p:sldId id="362" r:id="rId13"/>
    <p:sldId id="369" r:id="rId14"/>
    <p:sldId id="371" r:id="rId15"/>
    <p:sldId id="372" r:id="rId16"/>
    <p:sldId id="373" r:id="rId17"/>
    <p:sldId id="370" r:id="rId18"/>
    <p:sldId id="265" r:id="rId19"/>
    <p:sldId id="364" r:id="rId20"/>
    <p:sldId id="365" r:id="rId21"/>
    <p:sldId id="366" r:id="rId22"/>
    <p:sldId id="367" r:id="rId23"/>
    <p:sldId id="368" r:id="rId24"/>
    <p:sldId id="35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321" autoAdjust="0"/>
  </p:normalViewPr>
  <p:slideViewPr>
    <p:cSldViewPr snapToGrid="0">
      <p:cViewPr>
        <p:scale>
          <a:sx n="91" d="100"/>
          <a:sy n="91" d="100"/>
        </p:scale>
        <p:origin x="370" y="-91"/>
      </p:cViewPr>
      <p:guideLst/>
    </p:cSldViewPr>
  </p:slideViewPr>
  <p:outlineViewPr>
    <p:cViewPr>
      <p:scale>
        <a:sx n="33" d="100"/>
        <a:sy n="33" d="100"/>
      </p:scale>
      <p:origin x="0" y="-210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239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439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D096C-D56B-5803-BA41-3AF402C22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46AC9-33CF-B0C2-4665-670A81F42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85C5D-9EF7-1294-C987-2FC6722A6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2836A-636F-8837-DF61-F28B02A3D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391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04946-AEBF-D1EB-7322-7A16D48D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2028EC-0782-FF72-5CCC-AF6603CB4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902BC-90AA-DD79-9AE4-0B00E9DBA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04737-9D79-254B-02C8-1E106EB8F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16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TROSPECT_TE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408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bg>
      <p:bgPr>
        <a:solidFill>
          <a:srgbClr val="0063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417307"/>
            <a:ext cx="10566400" cy="462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2297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  <p:sldLayoutId id="2147483694" r:id="rId15"/>
    <p:sldLayoutId id="2147483695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252728"/>
            <a:ext cx="10571998" cy="3176284"/>
          </a:xfrm>
        </p:spPr>
        <p:txBody>
          <a:bodyPr/>
          <a:lstStyle/>
          <a:p>
            <a:pPr lvl="0"/>
            <a:r>
              <a:rPr lang="en-IN" dirty="0"/>
              <a:t>Evaluating Learned Index Structures vs. Traditional B+ Trees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236D6-5FB8-7B18-3483-686F195BDC9F}"/>
              </a:ext>
            </a:extLst>
          </p:cNvPr>
          <p:cNvSpPr txBox="1"/>
          <p:nvPr/>
        </p:nvSpPr>
        <p:spPr>
          <a:xfrm>
            <a:off x="3694176" y="594360"/>
            <a:ext cx="4855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9E0B9"/>
                </a:solidFill>
              </a:rPr>
              <a:t>DATABASE SYSTEMS CASE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B3732-5382-E718-04F0-5C49A3376258}"/>
              </a:ext>
            </a:extLst>
          </p:cNvPr>
          <p:cNvSpPr txBox="1"/>
          <p:nvPr/>
        </p:nvSpPr>
        <p:spPr>
          <a:xfrm>
            <a:off x="566928" y="4517136"/>
            <a:ext cx="1098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9E0B9"/>
                </a:solidFill>
              </a:rPr>
              <a:t>A Comparative Study of Indexing Architectures, Memory Efficiency and Lookup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452FFB-3DA7-2C05-7594-797CBFBD4917}"/>
              </a:ext>
            </a:extLst>
          </p:cNvPr>
          <p:cNvSpPr txBox="1"/>
          <p:nvPr/>
        </p:nvSpPr>
        <p:spPr>
          <a:xfrm>
            <a:off x="1014984" y="5005107"/>
            <a:ext cx="8092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Team member 1: DHAYAPULE KARTIKESH RAO (24BCE0241)</a:t>
            </a:r>
          </a:p>
          <a:p>
            <a:r>
              <a:rPr lang="en-IN" dirty="0"/>
              <a:t>Team member 2: </a:t>
            </a:r>
            <a:r>
              <a:rPr lang="fi-FI" dirty="0"/>
              <a:t>METTA VENKATA SURYA SAI SRIKAR (24BCE0310)</a:t>
            </a:r>
            <a:endParaRPr lang="en-IN" dirty="0"/>
          </a:p>
          <a:p>
            <a:r>
              <a:rPr lang="en-IN" dirty="0"/>
              <a:t>Team member 3: MAYUR R KENI (24BCE0686)</a:t>
            </a:r>
          </a:p>
          <a:p>
            <a:r>
              <a:rPr lang="en-IN" dirty="0"/>
              <a:t>Team member 4: VENKATARAMANA AKSHITH (24BCE2482)</a:t>
            </a: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C88E-F1B9-54B3-3335-95480E0BB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9E0B9"/>
                </a:solidFill>
              </a:rPr>
              <a:t>Why Rethink Database Indexing?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384A17-1146-0F6B-1B5E-22EDA32E16E7}"/>
                  </a:ext>
                </a:extLst>
              </p:cNvPr>
              <p:cNvSpPr>
                <a:spLocks noGrp="1"/>
              </p:cNvSpPr>
              <p:nvPr>
                <p:ph sz="quarter" idx="17"/>
              </p:nvPr>
            </p:nvSpPr>
            <p:spPr>
              <a:xfrm>
                <a:off x="461495" y="1827800"/>
                <a:ext cx="5435691" cy="269848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Traditional Indexing — B+ Trees</a:t>
                </a:r>
                <a:endParaRPr lang="en-IN" dirty="0"/>
              </a:p>
              <a:p>
                <a:pPr marL="0" lvl="0" indent="0">
                  <a:buNone/>
                </a:pPr>
                <a:r>
                  <a:rPr lang="en-IN" dirty="0"/>
                  <a:t>1.  Databases use indexes to locate records efficiently.</a:t>
                </a:r>
              </a:p>
              <a:p>
                <a:pPr marL="0" lvl="0" indent="0">
                  <a:buNone/>
                </a:pPr>
                <a:r>
                  <a:rPr lang="en-IN" dirty="0"/>
                  <a:t>2.  B+ Trees organize keys in a balanced tree.</a:t>
                </a:r>
              </a:p>
              <a:p>
                <a:pPr marL="0" lvl="0" indent="0">
                  <a:buNone/>
                </a:pPr>
                <a:r>
                  <a:rPr lang="en-IN" dirty="0"/>
                  <a:t>3.  They support search, insertion and deletion in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IN" b="1" i="0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IN" b="1" i="0" dirty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en-IN" b="1" i="1" dirty="0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func>
                      </m:e>
                    </m:d>
                  </m:oMath>
                </a14:m>
                <a:r>
                  <a:rPr lang="en-IN" dirty="0"/>
                  <a:t> time. 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384A17-1146-0F6B-1B5E-22EDA32E1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7"/>
              </p:nvPr>
            </p:nvSpPr>
            <p:spPr>
              <a:xfrm>
                <a:off x="461495" y="1827800"/>
                <a:ext cx="5435691" cy="2698480"/>
              </a:xfrm>
              <a:blipFill>
                <a:blip r:embed="rId2"/>
                <a:stretch>
                  <a:fillRect l="-786" t="-6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F83C0-566F-2E05-AD67-535E15861D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41848" y="1827800"/>
            <a:ext cx="6088657" cy="24797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Learned Indexing — Machine Learning</a:t>
            </a:r>
          </a:p>
          <a:p>
            <a:pPr lvl="0"/>
            <a:r>
              <a:rPr lang="en-IN" b="0" dirty="0"/>
              <a:t>Learned indexes use machine learning to model key distributions.</a:t>
            </a:r>
          </a:p>
          <a:p>
            <a:pPr lvl="0"/>
            <a:r>
              <a:rPr lang="en-IN" b="0" dirty="0"/>
              <a:t>They estimate where a record is likely to be located.</a:t>
            </a:r>
            <a:br>
              <a:rPr lang="en-IN" b="0" dirty="0"/>
            </a:br>
            <a:endParaRPr lang="en-IN" b="0" dirty="0"/>
          </a:p>
          <a:p>
            <a:pPr lvl="0"/>
            <a:r>
              <a:rPr lang="en-IN" b="0" dirty="0"/>
              <a:t>Their performance depends on the dataset and workload.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ssignment 3-4-5 Define NoSQL databases. Explain the features and types ..">
            <a:extLst>
              <a:ext uri="{FF2B5EF4-FFF2-40B4-BE49-F238E27FC236}">
                <a16:creationId xmlns:a16="http://schemas.microsoft.com/office/drawing/2014/main" id="{78599539-9FB3-535E-ED6A-534D6FE7C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164" y="4235116"/>
            <a:ext cx="3471022" cy="21757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46706C-3514-717E-03BF-63DD935E4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816" y="4235116"/>
            <a:ext cx="4121362" cy="217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886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7BD19F5-A5C3-B91D-3BD8-338C5C135F2F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603504" y="740664"/>
                <a:ext cx="5102351" cy="5110529"/>
              </a:xfrm>
            </p:spPr>
            <p:txBody>
              <a:bodyPr>
                <a:normAutofit/>
              </a:bodyPr>
              <a:lstStyle/>
              <a:p>
                <a:r>
                  <a:rPr lang="en-IN" b="1" u="sng" dirty="0">
                    <a:solidFill>
                      <a:srgbClr val="F9E0B9"/>
                    </a:solidFill>
                  </a:rPr>
                  <a:t>Understanding the B+ Tree</a:t>
                </a:r>
              </a:p>
              <a:p>
                <a:r>
                  <a:rPr lang="en-IN" b="1" dirty="0">
                    <a:solidFill>
                      <a:srgbClr val="F9E0B9"/>
                    </a:solidFill>
                  </a:rPr>
                  <a:t>What is a B+ Tree?</a:t>
                </a:r>
                <a:endParaRPr lang="en-IN" dirty="0">
                  <a:solidFill>
                    <a:srgbClr val="F9E0B9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 self-balancing, multi-level tree structure used for database indexing.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Internal nodes store separator keys and pointers to child nodes.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Leaf nodes store sorted keys and record pointers.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Leaf nodes are linked to support efficient sequential and range searches.</a:t>
                </a:r>
              </a:p>
              <a:p>
                <a:r>
                  <a:rPr lang="en-IN" b="1" dirty="0">
                    <a:solidFill>
                      <a:srgbClr val="F9E0B9"/>
                    </a:solidFill>
                  </a:rPr>
                  <a:t>Time Complexity</a:t>
                </a:r>
                <a:endParaRPr lang="en-IN" dirty="0">
                  <a:solidFill>
                    <a:srgbClr val="F9E0B9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b="1" i="0"/>
                        <m:t>Search: (O(log N))</m:t>
                      </m:r>
                    </m:oMath>
                  </m:oMathPara>
                </a14:m>
                <a:endParaRPr lang="en-IN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b="1" i="0"/>
                        <m:t>Insertion: (O(</m:t>
                      </m:r>
                      <m:r>
                        <m:rPr>
                          <m:nor/>
                        </m:rPr>
                        <a:rPr lang="en-IN" b="1" i="0" smtClean="0"/>
                        <m:t>l</m:t>
                      </m:r>
                      <m:r>
                        <m:rPr>
                          <m:nor/>
                        </m:rPr>
                        <a:rPr lang="en-IN" b="1" i="0"/>
                        <m:t>og N))</m:t>
                      </m:r>
                    </m:oMath>
                  </m:oMathPara>
                </a14:m>
                <a:endParaRPr lang="en-IN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b="1" i="0"/>
                        <m:t>Deletion: (O(log N))</m:t>
                      </m:r>
                    </m:oMath>
                  </m:oMathPara>
                </a14:m>
                <a:endParaRPr lang="en-IN" b="1" dirty="0"/>
              </a:p>
              <a:p>
                <a:endParaRPr lang="en-IN" b="1" dirty="0">
                  <a:solidFill>
                    <a:srgbClr val="F9E0B9"/>
                  </a:solidFill>
                </a:endParaRPr>
              </a:p>
              <a:p>
                <a:endParaRPr lang="en-IN" dirty="0">
                  <a:solidFill>
                    <a:srgbClr val="F9E0B9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7BD19F5-A5C3-B91D-3BD8-338C5C135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603504" y="740664"/>
                <a:ext cx="5102351" cy="5110529"/>
              </a:xfrm>
              <a:blipFill>
                <a:blip r:embed="rId2"/>
                <a:stretch>
                  <a:fillRect l="-956" t="-7041" r="-10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MU 15-445 Lecture #08: Tree Indexes - Jungle's Blog">
            <a:extLst>
              <a:ext uri="{FF2B5EF4-FFF2-40B4-BE49-F238E27FC236}">
                <a16:creationId xmlns:a16="http://schemas.microsoft.com/office/drawing/2014/main" id="{1041B418-A433-D0DA-9558-1DEADD927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073" y="1843087"/>
            <a:ext cx="5731510" cy="28060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8182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D731-8E6D-8B2A-1498-18718912B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" y="66118"/>
            <a:ext cx="11109959" cy="1387778"/>
          </a:xfrm>
        </p:spPr>
        <p:txBody>
          <a:bodyPr/>
          <a:lstStyle/>
          <a:p>
            <a:r>
              <a:rPr lang="en-IN" sz="6000" dirty="0"/>
              <a:t>Limitations of Traditional Indexing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B5D0A-F5EF-4A66-6103-B57320193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984" y="1453896"/>
            <a:ext cx="8632030" cy="445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11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B+ Tree"/>
          <p:cNvSpPr/>
          <p:nvPr/>
        </p:nvSpPr>
        <p:spPr>
          <a:xfrm>
            <a:off x="755904" y="2097024"/>
            <a:ext cx="4730496" cy="3048000"/>
          </a:xfrm>
          <a:prstGeom prst="roundRect">
            <a:avLst>
              <a:gd name="adj" fmla="val 4800"/>
            </a:avLst>
          </a:prstGeom>
          <a:solidFill>
            <a:srgbClr val="DCE9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Panel Learned Index"/>
          <p:cNvSpPr/>
          <p:nvPr/>
        </p:nvSpPr>
        <p:spPr>
          <a:xfrm>
            <a:off x="6705600" y="2097024"/>
            <a:ext cx="4730496" cy="3048000"/>
          </a:xfrm>
          <a:prstGeom prst="roundRect">
            <a:avLst>
              <a:gd name="adj" fmla="val 4800"/>
            </a:avLst>
          </a:prstGeom>
          <a:solidFill>
            <a:srgbClr val="D8F0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Label Traditional Index"/>
          <p:cNvSpPr txBox="1"/>
          <p:nvPr/>
        </p:nvSpPr>
        <p:spPr>
          <a:xfrm>
            <a:off x="755904" y="2194560"/>
            <a:ext cx="473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400" dirty="0">
                <a:solidFill>
                  <a:srgbClr val="3A5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INDEX</a:t>
            </a:r>
            <a:endParaRPr lang="en-US" sz="1467" dirty="0"/>
          </a:p>
        </p:txBody>
      </p:sp>
      <p:sp>
        <p:nvSpPr>
          <p:cNvPr id="5" name="Title B+ Tree"/>
          <p:cNvSpPr txBox="1"/>
          <p:nvPr/>
        </p:nvSpPr>
        <p:spPr>
          <a:xfrm>
            <a:off x="755904" y="2487168"/>
            <a:ext cx="473049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2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Tree</a:t>
            </a:r>
            <a:endParaRPr lang="en-US" sz="2400" dirty="0"/>
          </a:p>
        </p:txBody>
      </p:sp>
      <p:sp>
        <p:nvSpPr>
          <p:cNvPr id="6" name="Root node"/>
          <p:cNvSpPr/>
          <p:nvPr/>
        </p:nvSpPr>
        <p:spPr>
          <a:xfrm>
            <a:off x="2389632" y="2950464"/>
            <a:ext cx="1463040" cy="463296"/>
          </a:xfrm>
          <a:prstGeom prst="roundRect">
            <a:avLst>
              <a:gd name="adj" fmla="val 21053"/>
            </a:avLst>
          </a:prstGeom>
          <a:solidFill>
            <a:srgbClr val="123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Root node text"/>
          <p:cNvSpPr txBox="1"/>
          <p:nvPr/>
        </p:nvSpPr>
        <p:spPr>
          <a:xfrm>
            <a:off x="2389632" y="2950464"/>
            <a:ext cx="1463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[20 | 40]</a:t>
            </a:r>
            <a:endParaRPr lang="en-US" sz="1867" dirty="0"/>
          </a:p>
        </p:txBody>
      </p:sp>
      <p:sp>
        <p:nvSpPr>
          <p:cNvPr id="8" name="Shape 6"/>
          <p:cNvSpPr/>
          <p:nvPr/>
        </p:nvSpPr>
        <p:spPr>
          <a:xfrm flipH="1">
            <a:off x="1731264" y="3413760"/>
            <a:ext cx="1389888" cy="390144"/>
          </a:xfrm>
          <a:prstGeom prst="line">
            <a:avLst/>
          </a:prstGeom>
          <a:noFill/>
          <a:ln w="19050">
            <a:solidFill>
              <a:srgbClr val="12315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Child node 1"/>
          <p:cNvSpPr/>
          <p:nvPr/>
        </p:nvSpPr>
        <p:spPr>
          <a:xfrm>
            <a:off x="1133856" y="3803904"/>
            <a:ext cx="1194816" cy="438912"/>
          </a:xfrm>
          <a:prstGeom prst="roundRect">
            <a:avLst>
              <a:gd name="adj" fmla="val 19444"/>
            </a:avLst>
          </a:prstGeom>
          <a:solidFill>
            <a:srgbClr val="B7D1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Child text 1"/>
          <p:cNvSpPr txBox="1"/>
          <p:nvPr/>
        </p:nvSpPr>
        <p:spPr>
          <a:xfrm>
            <a:off x="1133856" y="3803904"/>
            <a:ext cx="1194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2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 | 10]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3121152" y="3413760"/>
            <a:ext cx="0" cy="390144"/>
          </a:xfrm>
          <a:prstGeom prst="line">
            <a:avLst/>
          </a:prstGeom>
          <a:noFill/>
          <a:ln w="19050">
            <a:solidFill>
              <a:srgbClr val="12315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Child node 2"/>
          <p:cNvSpPr/>
          <p:nvPr/>
        </p:nvSpPr>
        <p:spPr>
          <a:xfrm>
            <a:off x="2523744" y="3803904"/>
            <a:ext cx="1194816" cy="438912"/>
          </a:xfrm>
          <a:prstGeom prst="roundRect">
            <a:avLst>
              <a:gd name="adj" fmla="val 19444"/>
            </a:avLst>
          </a:prstGeom>
          <a:solidFill>
            <a:srgbClr val="B7D1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Child text 2"/>
          <p:cNvSpPr txBox="1"/>
          <p:nvPr/>
        </p:nvSpPr>
        <p:spPr>
          <a:xfrm>
            <a:off x="2523744" y="3803904"/>
            <a:ext cx="1194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2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[25 | 30]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3121152" y="3413760"/>
            <a:ext cx="1389888" cy="390144"/>
          </a:xfrm>
          <a:prstGeom prst="line">
            <a:avLst/>
          </a:prstGeom>
          <a:noFill/>
          <a:ln w="19050">
            <a:solidFill>
              <a:srgbClr val="12315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Child node 3"/>
          <p:cNvSpPr/>
          <p:nvPr/>
        </p:nvSpPr>
        <p:spPr>
          <a:xfrm>
            <a:off x="3913632" y="3803904"/>
            <a:ext cx="1194816" cy="438912"/>
          </a:xfrm>
          <a:prstGeom prst="roundRect">
            <a:avLst>
              <a:gd name="adj" fmla="val 19444"/>
            </a:avLst>
          </a:prstGeom>
          <a:solidFill>
            <a:srgbClr val="B7D1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Child text 3"/>
          <p:cNvSpPr txBox="1"/>
          <p:nvPr/>
        </p:nvSpPr>
        <p:spPr>
          <a:xfrm>
            <a:off x="3913632" y="3803904"/>
            <a:ext cx="1194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2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[45 | 50]</a:t>
            </a:r>
            <a:endParaRPr lang="en-US" sz="1733" dirty="0"/>
          </a:p>
        </p:txBody>
      </p:sp>
      <p:sp>
        <p:nvSpPr>
          <p:cNvPr id="17" name="Caption steps tree"/>
          <p:cNvSpPr txBox="1"/>
          <p:nvPr/>
        </p:nvSpPr>
        <p:spPr>
          <a:xfrm>
            <a:off x="877824" y="4413504"/>
            <a:ext cx="448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12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keys → Traverse nodes → Reach the leaf</a:t>
            </a:r>
            <a:endParaRPr lang="en-US" sz="1467" dirty="0"/>
          </a:p>
        </p:txBody>
      </p:sp>
      <p:sp>
        <p:nvSpPr>
          <p:cNvPr id="18" name="Caption tree"/>
          <p:cNvSpPr txBox="1"/>
          <p:nvPr/>
        </p:nvSpPr>
        <p:spPr>
          <a:xfrm>
            <a:off x="877824" y="4803648"/>
            <a:ext cx="44866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i="1" dirty="0">
                <a:solidFill>
                  <a:srgbClr val="3A5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through tree levels.</a:t>
            </a:r>
            <a:endParaRPr lang="en-US" sz="1467" dirty="0"/>
          </a:p>
        </p:txBody>
      </p:sp>
      <p:sp>
        <p:nvSpPr>
          <p:cNvPr id="19" name="Label Learned Index"/>
          <p:cNvSpPr txBox="1"/>
          <p:nvPr/>
        </p:nvSpPr>
        <p:spPr>
          <a:xfrm>
            <a:off x="6705600" y="2194560"/>
            <a:ext cx="473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400" dirty="0">
                <a:solidFill>
                  <a:srgbClr val="1B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INDEX</a:t>
            </a:r>
            <a:endParaRPr lang="en-US" sz="1467" dirty="0"/>
          </a:p>
        </p:txBody>
      </p:sp>
      <p:sp>
        <p:nvSpPr>
          <p:cNvPr id="20" name="Title Learned Index"/>
          <p:cNvSpPr txBox="1"/>
          <p:nvPr/>
        </p:nvSpPr>
        <p:spPr>
          <a:xfrm>
            <a:off x="6705600" y="2487168"/>
            <a:ext cx="473049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Model-Based Prediction</a:t>
            </a:r>
            <a:endParaRPr lang="en-US" sz="2400" dirty="0"/>
          </a:p>
        </p:txBody>
      </p:sp>
      <p:sp>
        <p:nvSpPr>
          <p:cNvPr id="21" name="Step 1"/>
          <p:cNvSpPr/>
          <p:nvPr/>
        </p:nvSpPr>
        <p:spPr>
          <a:xfrm>
            <a:off x="7376160" y="2950464"/>
            <a:ext cx="3389376" cy="414528"/>
          </a:xfrm>
          <a:prstGeom prst="roundRect">
            <a:avLst>
              <a:gd name="adj" fmla="val 23529"/>
            </a:avLst>
          </a:prstGeom>
          <a:solidFill>
            <a:srgbClr val="A8DC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tep text 1"/>
          <p:cNvSpPr txBox="1"/>
          <p:nvPr/>
        </p:nvSpPr>
        <p:spPr>
          <a:xfrm>
            <a:off x="7376160" y="2950464"/>
            <a:ext cx="338937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key distribution</a:t>
            </a:r>
            <a:endParaRPr lang="en-US" sz="1733" dirty="0"/>
          </a:p>
        </p:txBody>
      </p:sp>
      <p:sp>
        <p:nvSpPr>
          <p:cNvPr id="23" name="Arrow 1"/>
          <p:cNvSpPr/>
          <p:nvPr/>
        </p:nvSpPr>
        <p:spPr>
          <a:xfrm>
            <a:off x="8948928" y="3401568"/>
            <a:ext cx="243840" cy="170688"/>
          </a:xfrm>
          <a:prstGeom prst="downArrow">
            <a:avLst/>
          </a:prstGeom>
          <a:solidFill>
            <a:srgbClr val="0E6B63"/>
          </a:solidFill>
          <a:ln w="12700">
            <a:solidFill>
              <a:srgbClr val="0E6B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tep 2"/>
          <p:cNvSpPr/>
          <p:nvPr/>
        </p:nvSpPr>
        <p:spPr>
          <a:xfrm>
            <a:off x="7376160" y="3608832"/>
            <a:ext cx="3389376" cy="414528"/>
          </a:xfrm>
          <a:prstGeom prst="roundRect">
            <a:avLst>
              <a:gd name="adj" fmla="val 23529"/>
            </a:avLst>
          </a:prstGeom>
          <a:solidFill>
            <a:srgbClr val="0E6B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tep text 2"/>
          <p:cNvSpPr txBox="1"/>
          <p:nvPr/>
        </p:nvSpPr>
        <p:spPr>
          <a:xfrm>
            <a:off x="7376160" y="3608832"/>
            <a:ext cx="338937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approximate position</a:t>
            </a:r>
            <a:endParaRPr lang="en-US" sz="1733" dirty="0"/>
          </a:p>
        </p:txBody>
      </p:sp>
      <p:sp>
        <p:nvSpPr>
          <p:cNvPr id="26" name="Arrow 2"/>
          <p:cNvSpPr/>
          <p:nvPr/>
        </p:nvSpPr>
        <p:spPr>
          <a:xfrm>
            <a:off x="8948928" y="4059936"/>
            <a:ext cx="243840" cy="170688"/>
          </a:xfrm>
          <a:prstGeom prst="downArrow">
            <a:avLst/>
          </a:prstGeom>
          <a:solidFill>
            <a:srgbClr val="0E6B63"/>
          </a:solidFill>
          <a:ln w="12700">
            <a:solidFill>
              <a:srgbClr val="0E6B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tep 3"/>
          <p:cNvSpPr/>
          <p:nvPr/>
        </p:nvSpPr>
        <p:spPr>
          <a:xfrm>
            <a:off x="7376160" y="4267200"/>
            <a:ext cx="3389376" cy="414528"/>
          </a:xfrm>
          <a:prstGeom prst="roundRect">
            <a:avLst>
              <a:gd name="adj" fmla="val 23529"/>
            </a:avLst>
          </a:prstGeom>
          <a:solidFill>
            <a:srgbClr val="A8DC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tep text 3"/>
          <p:cNvSpPr txBox="1"/>
          <p:nvPr/>
        </p:nvSpPr>
        <p:spPr>
          <a:xfrm>
            <a:off x="7376160" y="4267200"/>
            <a:ext cx="338937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and locate the key</a:t>
            </a:r>
            <a:endParaRPr lang="en-US" sz="1733" dirty="0"/>
          </a:p>
        </p:txBody>
      </p:sp>
      <p:sp>
        <p:nvSpPr>
          <p:cNvPr id="29" name="Caption learned"/>
          <p:cNvSpPr txBox="1"/>
          <p:nvPr/>
        </p:nvSpPr>
        <p:spPr>
          <a:xfrm>
            <a:off x="6827520" y="4803648"/>
            <a:ext cx="44866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i="1" dirty="0">
                <a:solidFill>
                  <a:srgbClr val="1B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 position, then verify.</a:t>
            </a:r>
            <a:endParaRPr lang="en-US" sz="1467" dirty="0"/>
          </a:p>
        </p:txBody>
      </p:sp>
      <p:sp>
        <p:nvSpPr>
          <p:cNvPr id="30" name="Comparison arrow"/>
          <p:cNvSpPr/>
          <p:nvPr/>
        </p:nvSpPr>
        <p:spPr>
          <a:xfrm>
            <a:off x="5657088" y="3377184"/>
            <a:ext cx="877824" cy="487680"/>
          </a:xfrm>
          <a:prstGeom prst="rightArrow">
            <a:avLst/>
          </a:prstGeom>
          <a:solidFill>
            <a:srgbClr val="F6D391"/>
          </a:solidFill>
          <a:ln w="12700">
            <a:solidFill>
              <a:srgbClr val="F6D3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akeaway banner"/>
          <p:cNvSpPr/>
          <p:nvPr/>
        </p:nvSpPr>
        <p:spPr>
          <a:xfrm>
            <a:off x="755904" y="5315712"/>
            <a:ext cx="10680192" cy="609600"/>
          </a:xfrm>
          <a:prstGeom prst="roundRect">
            <a:avLst>
              <a:gd name="adj" fmla="val 20000"/>
            </a:avLst>
          </a:prstGeom>
          <a:solidFill>
            <a:srgbClr val="0F2A4D"/>
          </a:solidFill>
          <a:ln w="12700">
            <a:solidFill>
              <a:srgbClr val="F6D3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akeaway text"/>
          <p:cNvSpPr txBox="1"/>
          <p:nvPr/>
        </p:nvSpPr>
        <p:spPr>
          <a:xfrm>
            <a:off x="755904" y="5315712"/>
            <a:ext cx="106801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 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patterns in sorted keys to predict record positions.</a:t>
            </a:r>
            <a:endParaRPr lang="en-US" sz="2000" dirty="0"/>
          </a:p>
        </p:txBody>
      </p:sp>
      <p:sp>
        <p:nvSpPr>
          <p:cNvPr id="33" name="Next line"/>
          <p:cNvSpPr txBox="1"/>
          <p:nvPr/>
        </p:nvSpPr>
        <p:spPr>
          <a:xfrm>
            <a:off x="755904" y="5998464"/>
            <a:ext cx="106801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Recursive Model Indexes (RMI), Piecewise Geometric Model Indexes (PGM) and ALEX.</a:t>
            </a:r>
            <a:endParaRPr lang="en-US" sz="14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BE7B-3118-419C-7D18-4530D533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1028606"/>
          </a:xfrm>
        </p:spPr>
        <p:txBody>
          <a:bodyPr/>
          <a:lstStyle/>
          <a:p>
            <a:r>
              <a:rPr lang="en-US" sz="6000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Learned Index?</a:t>
            </a:r>
            <a:endParaRPr lang="en-IN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7A8D91-D3D0-619E-CF7A-29F4BBD88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149" y="1779639"/>
            <a:ext cx="5315496" cy="37035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AA0DFA-219B-B06C-D533-12C7CE4B256B}"/>
              </a:ext>
            </a:extLst>
          </p:cNvPr>
          <p:cNvSpPr txBox="1"/>
          <p:nvPr/>
        </p:nvSpPr>
        <p:spPr>
          <a:xfrm>
            <a:off x="462116" y="1661652"/>
            <a:ext cx="5887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9E0B9"/>
                </a:solidFill>
                <a:latin typeface="+mj-lt"/>
                <a:ea typeface="Arial" pitchFamily="34" charset="-122"/>
                <a:cs typeface="Arial" pitchFamily="34" charset="-120"/>
              </a:rPr>
              <a:t>   INDEXING AS PREDICTION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F9B21F-4F71-B3C8-359E-01DC7759531D}"/>
              </a:ext>
            </a:extLst>
          </p:cNvPr>
          <p:cNvSpPr txBox="1"/>
          <p:nvPr/>
        </p:nvSpPr>
        <p:spPr>
          <a:xfrm>
            <a:off x="613355" y="2192593"/>
            <a:ext cx="4843548" cy="3703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6718" indent="-156718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learned index uses ML models to learn patterns in sorted data.</a:t>
            </a:r>
          </a:p>
          <a:p>
            <a:pPr marL="156718" indent="-156718">
              <a:lnSpc>
                <a:spcPts val="1960"/>
              </a:lnSpc>
              <a:buSzPct val="100000"/>
              <a:buChar char="•"/>
            </a:pPr>
            <a:endParaRPr lang="en-US" dirty="0">
              <a:solidFill>
                <a:srgbClr val="FFFFFF"/>
              </a:solidFill>
            </a:endParaRPr>
          </a:p>
          <a:p>
            <a:pPr marL="156718" indent="-156718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navigating a tree, the model predicts the approximate position of a search key.</a:t>
            </a:r>
          </a:p>
          <a:p>
            <a:pPr marL="156718" indent="-156718">
              <a:lnSpc>
                <a:spcPts val="1960"/>
              </a:lnSpc>
              <a:buSzPct val="100000"/>
              <a:buChar char="•"/>
            </a:pPr>
            <a:endParaRPr lang="en-US" dirty="0">
              <a:solidFill>
                <a:srgbClr val="FFFFFF"/>
              </a:solidFill>
            </a:endParaRPr>
          </a:p>
          <a:p>
            <a:pPr marL="156718" indent="-156718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come from the relationship between key values and positions.</a:t>
            </a:r>
          </a:p>
          <a:p>
            <a:pPr>
              <a:lnSpc>
                <a:spcPts val="1960"/>
              </a:lnSpc>
              <a:buSzPct val="100000"/>
            </a:pPr>
            <a:endParaRPr lang="en-US" dirty="0">
              <a:solidFill>
                <a:srgbClr val="FFFFFF"/>
              </a:solidFill>
            </a:endParaRPr>
          </a:p>
          <a:p>
            <a:pPr marL="156718" indent="-156718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correction step locates the exact key.</a:t>
            </a:r>
          </a:p>
          <a:p>
            <a:pPr marL="156718" indent="-156718">
              <a:lnSpc>
                <a:spcPts val="1960"/>
              </a:lnSpc>
              <a:buSzPct val="100000"/>
              <a:buChar char="•"/>
            </a:pPr>
            <a:endParaRPr lang="en-US" dirty="0">
              <a:solidFill>
                <a:srgbClr val="FFFFFF"/>
              </a:solidFill>
            </a:endParaRPr>
          </a:p>
          <a:p>
            <a:pPr marL="156718" indent="-156718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depends on the data distribution.</a:t>
            </a:r>
            <a:endParaRPr lang="en-US" dirty="0">
              <a:solidFill>
                <a:srgbClr val="FFFFFF"/>
              </a:solidFill>
            </a:endParaRP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2367D-10FD-08BB-1BCE-E4AF5842A8BC}"/>
              </a:ext>
            </a:extLst>
          </p:cNvPr>
          <p:cNvSpPr txBox="1"/>
          <p:nvPr/>
        </p:nvSpPr>
        <p:spPr>
          <a:xfrm>
            <a:off x="1929001" y="5822941"/>
            <a:ext cx="8668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F9E0B9"/>
                </a:solidFill>
              </a:rPr>
              <a:t>Key takeaway: A learned index treats indexing as a prediction problem.</a:t>
            </a:r>
          </a:p>
        </p:txBody>
      </p:sp>
    </p:spTree>
    <p:extLst>
      <p:ext uri="{BB962C8B-B14F-4D97-AF65-F5344CB8AC3E}">
        <p14:creationId xmlns:p14="http://schemas.microsoft.com/office/powerpoint/2010/main" val="295671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A7BD-A05D-C749-6619-420C6939A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1058102"/>
          </a:xfrm>
        </p:spPr>
        <p:txBody>
          <a:bodyPr/>
          <a:lstStyle/>
          <a:p>
            <a:r>
              <a:rPr lang="en-US" sz="6000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Model Index (RMI)</a:t>
            </a:r>
            <a:endParaRPr lang="en-IN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D3C1A-F889-2D16-B5A5-DA97A355D752}"/>
              </a:ext>
            </a:extLst>
          </p:cNvPr>
          <p:cNvSpPr txBox="1"/>
          <p:nvPr/>
        </p:nvSpPr>
        <p:spPr>
          <a:xfrm>
            <a:off x="619431" y="5855622"/>
            <a:ext cx="11149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F9E0B9"/>
                </a:solidFill>
              </a:rPr>
              <a:t>Key takeaway: </a:t>
            </a:r>
            <a:r>
              <a:rPr lang="en-US" b="1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RMI uses a hierarchy of models to make position predictions.</a:t>
            </a:r>
            <a:endParaRPr lang="en-IN" sz="1800" b="1" dirty="0">
              <a:solidFill>
                <a:srgbClr val="F9E0B9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3C26E0-3310-65DC-043F-8D877A257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61" y="1750028"/>
            <a:ext cx="4965477" cy="37264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F9CB06-D26C-EB44-5CD1-50B6AD8B2773}"/>
              </a:ext>
            </a:extLst>
          </p:cNvPr>
          <p:cNvSpPr txBox="1"/>
          <p:nvPr/>
        </p:nvSpPr>
        <p:spPr>
          <a:xfrm>
            <a:off x="747061" y="1750028"/>
            <a:ext cx="4965479" cy="32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80"/>
              </a:lnSpc>
            </a:pPr>
            <a:r>
              <a:rPr lang="en-US" b="1" dirty="0">
                <a:solidFill>
                  <a:srgbClr val="F9E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HIERARCHY OF MODELS</a:t>
            </a:r>
            <a:endParaRPr lang="en-US" dirty="0">
              <a:solidFill>
                <a:srgbClr val="F9E0B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5F56D-9CD4-D30C-7146-66EFF4DD0D5A}"/>
              </a:ext>
            </a:extLst>
          </p:cNvPr>
          <p:cNvSpPr txBox="1"/>
          <p:nvPr/>
        </p:nvSpPr>
        <p:spPr>
          <a:xfrm>
            <a:off x="619431" y="2409428"/>
            <a:ext cx="5260259" cy="3145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RMI stands for Recursive Model Index.</a:t>
            </a:r>
          </a:p>
          <a:p>
            <a:pPr algn="l">
              <a:lnSpc>
                <a:spcPts val="1960"/>
              </a:lnSpc>
              <a:buSzPct val="100000"/>
            </a:pPr>
            <a:endParaRPr lang="en-US" dirty="0">
              <a:solidFill>
                <a:srgbClr val="FFFFFF"/>
              </a:solidFill>
            </a:endParaRPr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uses a hierarchy of machine learning models.</a:t>
            </a:r>
          </a:p>
          <a:p>
            <a:pPr algn="l">
              <a:lnSpc>
                <a:spcPts val="1960"/>
              </a:lnSpc>
              <a:buSzPct val="100000"/>
            </a:pPr>
            <a:endParaRPr lang="en-US" dirty="0">
              <a:solidFill>
                <a:srgbClr val="FFFFFF"/>
              </a:solidFill>
            </a:endParaRPr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top-level model selects a lower-level model.</a:t>
            </a:r>
          </a:p>
          <a:p>
            <a:pPr algn="l">
              <a:lnSpc>
                <a:spcPts val="1960"/>
              </a:lnSpc>
              <a:buSzPct val="100000"/>
            </a:pPr>
            <a:endParaRPr lang="en-US" dirty="0">
              <a:solidFill>
                <a:srgbClr val="FFFFFF"/>
              </a:solidFill>
            </a:endParaRPr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model predicts the approximate position of the key.</a:t>
            </a:r>
          </a:p>
          <a:p>
            <a:pPr algn="l">
              <a:lnSpc>
                <a:spcPts val="1960"/>
              </a:lnSpc>
              <a:buSzPct val="100000"/>
            </a:pPr>
            <a:endParaRPr lang="en-US" dirty="0">
              <a:solidFill>
                <a:srgbClr val="FFFFFF"/>
              </a:solidFill>
            </a:endParaRPr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bounds and a correction search find the exact key.</a:t>
            </a:r>
          </a:p>
          <a:p>
            <a:pPr algn="l">
              <a:lnSpc>
                <a:spcPts val="1960"/>
              </a:lnSpc>
              <a:buSzPct val="100000"/>
            </a:pPr>
            <a:endParaRPr lang="en-U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055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254B-8AF9-9B2E-9428-CBCD3BE67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1736528"/>
          </a:xfrm>
        </p:spPr>
        <p:txBody>
          <a:bodyPr/>
          <a:lstStyle/>
          <a:p>
            <a:r>
              <a:rPr lang="en-US" sz="6000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Piecewise Geometric Model Index (PGM)</a:t>
            </a:r>
            <a:endParaRPr lang="en-IN" sz="6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4BE2B5-F777-53BC-64E9-21E5C3DDC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685" y="2369574"/>
            <a:ext cx="4758813" cy="32449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79FA27-22BE-E94F-791C-5208288C96A7}"/>
              </a:ext>
            </a:extLst>
          </p:cNvPr>
          <p:cNvSpPr txBox="1"/>
          <p:nvPr/>
        </p:nvSpPr>
        <p:spPr>
          <a:xfrm>
            <a:off x="491613" y="2184059"/>
            <a:ext cx="3617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9E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LINEAR SEGMENTS</a:t>
            </a:r>
            <a:endParaRPr lang="en-US" dirty="0">
              <a:solidFill>
                <a:srgbClr val="F9E0B9"/>
              </a:solidFill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0665B-CA95-230F-30D0-D3E557CC3DE6}"/>
              </a:ext>
            </a:extLst>
          </p:cNvPr>
          <p:cNvSpPr txBox="1"/>
          <p:nvPr/>
        </p:nvSpPr>
        <p:spPr>
          <a:xfrm>
            <a:off x="491613" y="2674374"/>
            <a:ext cx="593868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6718" indent="-156718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PGM stands for Piecewise Geometric Model index.</a:t>
            </a:r>
          </a:p>
          <a:p>
            <a:pPr>
              <a:lnSpc>
                <a:spcPts val="1960"/>
              </a:lnSpc>
              <a:buSzPct val="100000"/>
            </a:pPr>
            <a:endParaRPr lang="en-US" dirty="0">
              <a:solidFill>
                <a:srgbClr val="FFFFFF"/>
              </a:solidFill>
            </a:endParaRPr>
          </a:p>
          <a:p>
            <a:pPr marL="156718" indent="-156718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approximates the key-to-position mapping with multiple linear segments.</a:t>
            </a:r>
          </a:p>
          <a:p>
            <a:pPr>
              <a:lnSpc>
                <a:spcPts val="1960"/>
              </a:lnSpc>
              <a:buSzPct val="100000"/>
            </a:pPr>
            <a:endParaRPr lang="en-US" dirty="0">
              <a:solidFill>
                <a:srgbClr val="FFFFFF"/>
              </a:solidFill>
            </a:endParaRPr>
          </a:p>
          <a:p>
            <a:pPr marL="156718" indent="-156718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segment models a portion of the sorted key distribution.</a:t>
            </a:r>
          </a:p>
          <a:p>
            <a:pPr>
              <a:lnSpc>
                <a:spcPts val="1960"/>
              </a:lnSpc>
              <a:buSzPct val="100000"/>
            </a:pPr>
            <a:endParaRPr lang="en-US" dirty="0">
              <a:solidFill>
                <a:srgbClr val="FFFFFF"/>
              </a:solidFill>
            </a:endParaRPr>
          </a:p>
          <a:p>
            <a:pPr marL="156718" indent="-156718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Epsilon (ε) controls the permitted prediction error.</a:t>
            </a:r>
          </a:p>
          <a:p>
            <a:pPr>
              <a:lnSpc>
                <a:spcPts val="1960"/>
              </a:lnSpc>
              <a:buSzPct val="100000"/>
            </a:pPr>
            <a:endParaRPr lang="en-US" dirty="0">
              <a:solidFill>
                <a:srgbClr val="FFFFFF"/>
              </a:solidFill>
            </a:endParaRPr>
          </a:p>
          <a:p>
            <a:pPr marL="156718" indent="-156718">
              <a:lnSpc>
                <a:spcPts val="196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segments trades model size against precision.</a:t>
            </a:r>
            <a:endParaRPr lang="en-US" dirty="0">
              <a:solidFill>
                <a:srgbClr val="FFFFFF"/>
              </a:solidFill>
            </a:endParaRP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B5E139-3DC6-E135-2944-15E226346935}"/>
              </a:ext>
            </a:extLst>
          </p:cNvPr>
          <p:cNvSpPr txBox="1"/>
          <p:nvPr/>
        </p:nvSpPr>
        <p:spPr>
          <a:xfrm>
            <a:off x="491613" y="5855622"/>
            <a:ext cx="1156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F9E0B9"/>
                </a:solidFill>
              </a:rPr>
              <a:t>Key takeaway:</a:t>
            </a:r>
            <a:r>
              <a:rPr lang="en-US" b="1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PGM uses compact piecewise models to balance accuracy and index size.</a:t>
            </a:r>
            <a:r>
              <a:rPr lang="en-IN" sz="1800" b="1" dirty="0">
                <a:solidFill>
                  <a:srgbClr val="F9E0B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9559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CFC2-ABB0-E0A3-BFE8-FAF20DF30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2" y="633045"/>
            <a:ext cx="10762567" cy="1707033"/>
          </a:xfrm>
        </p:spPr>
        <p:txBody>
          <a:bodyPr/>
          <a:lstStyle/>
          <a:p>
            <a:r>
              <a:rPr lang="en-US" sz="6000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ALEX-lite — Adaptive Learned Index</a:t>
            </a:r>
            <a:endParaRPr lang="en-IN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27537B-F70F-B872-A3C0-9DAB62DA8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69" y="2340078"/>
            <a:ext cx="4981199" cy="34511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395140-01E1-D2EB-95AA-FD7E3E3E1285}"/>
              </a:ext>
            </a:extLst>
          </p:cNvPr>
          <p:cNvSpPr txBox="1"/>
          <p:nvPr/>
        </p:nvSpPr>
        <p:spPr>
          <a:xfrm>
            <a:off x="772992" y="5958348"/>
            <a:ext cx="11012129" cy="33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ALEX-style indexing supports efficient lookups while accommodating updates.</a:t>
            </a:r>
            <a:endParaRPr lang="en-US" sz="1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7BE65-4B59-9531-01AE-7B44965D322F}"/>
              </a:ext>
            </a:extLst>
          </p:cNvPr>
          <p:cNvSpPr txBox="1"/>
          <p:nvPr/>
        </p:nvSpPr>
        <p:spPr>
          <a:xfrm>
            <a:off x="1002890" y="1965784"/>
            <a:ext cx="5866102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b="1" dirty="0">
                <a:solidFill>
                  <a:srgbClr val="F9E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LOOKUPS PLUS UPDATES</a:t>
            </a:r>
            <a:endParaRPr lang="en-US" dirty="0">
              <a:solidFill>
                <a:srgbClr val="F9E0B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BAF3E5-4F59-A03B-D90D-208AD865086B}"/>
              </a:ext>
            </a:extLst>
          </p:cNvPr>
          <p:cNvSpPr txBox="1"/>
          <p:nvPr/>
        </p:nvSpPr>
        <p:spPr>
          <a:xfrm>
            <a:off x="926553" y="2443272"/>
            <a:ext cx="4674079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ALEX stands for Adaptive Learned Index.</a:t>
            </a:r>
          </a:p>
          <a:p>
            <a:pPr algn="l">
              <a:lnSpc>
                <a:spcPts val="1960"/>
              </a:lnSpc>
              <a:buSzPct val="100000"/>
            </a:pPr>
            <a:endParaRPr lang="en-US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It combines learned models with an array-based data structure.</a:t>
            </a:r>
          </a:p>
          <a:p>
            <a:pPr algn="l">
              <a:lnSpc>
                <a:spcPts val="1960"/>
              </a:lnSpc>
              <a:buSzPct val="100000"/>
            </a:pPr>
            <a:endParaRPr lang="en-US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Gaps between stored keys leave room for new insertions.</a:t>
            </a:r>
          </a:p>
          <a:p>
            <a:pPr algn="l">
              <a:lnSpc>
                <a:spcPts val="1960"/>
              </a:lnSpc>
              <a:buSzPct val="100000"/>
            </a:pPr>
            <a:endParaRPr lang="en-US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Insertions use gaps, reducing the need to shift keys.</a:t>
            </a:r>
          </a:p>
          <a:p>
            <a:pPr algn="l">
              <a:lnSpc>
                <a:spcPts val="1960"/>
              </a:lnSpc>
              <a:buSzPct val="100000"/>
            </a:pPr>
            <a:endParaRPr lang="en-US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When gaps run out, the structure expands or reorganizes.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915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Image 0" descr="preencoded.png">
            <a:extLst>
              <a:ext uri="{FF2B5EF4-FFF2-40B4-BE49-F238E27FC236}">
                <a16:creationId xmlns:a16="http://schemas.microsoft.com/office/drawing/2014/main" id="{DB1C0BF0-A8CE-A72F-E608-45E2662343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" b="13"/>
          <a:stretch/>
        </p:blipFill>
        <p:spPr>
          <a:xfrm>
            <a:off x="17197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C3B69-BB3F-9402-CA48-F045A61D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7" y="710184"/>
            <a:ext cx="10566400" cy="502907"/>
          </a:xfrm>
        </p:spPr>
        <p:txBody>
          <a:bodyPr/>
          <a:lstStyle/>
          <a:p>
            <a:pPr algn="ctr"/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"/>
              </a:rPr>
              <a:t>METHODOLOGY WORKFLOW</a:t>
            </a:r>
            <a:br>
              <a:rPr lang="en-US" sz="4400" dirty="0">
                <a:solidFill>
                  <a:srgbClr val="0D9488"/>
                </a:solidFill>
                <a:latin typeface="Inter"/>
              </a:rPr>
            </a:br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"/>
              </a:rPr>
              <a:t>Project Architecture</a:t>
            </a:r>
            <a:br>
              <a:rPr lang="en-US" sz="4400" dirty="0">
                <a:solidFill>
                  <a:srgbClr val="0F172A"/>
                </a:solidFill>
                <a:latin typeface="Inter"/>
              </a:rPr>
            </a:br>
            <a:br>
              <a:rPr lang="en-US" sz="4400" dirty="0">
                <a:solidFill>
                  <a:srgbClr val="0D9488"/>
                </a:solidFill>
                <a:latin typeface="Inter"/>
              </a:rPr>
            </a:br>
            <a:endParaRPr lang="en-US" sz="4400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29DD53A6-DF2A-1315-9252-BCB1B828F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241" y="3675648"/>
            <a:ext cx="142875" cy="2286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DE4FB486-F1E7-C47F-489A-18A6EDA93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306" y="3675648"/>
            <a:ext cx="142875" cy="2286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E51B0A46-72F1-FCFD-EBCD-45FFAF97F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372" y="3675648"/>
            <a:ext cx="142875" cy="22860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AB5EB1AF-2D61-F436-C59F-153CBE94A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511" y="3675648"/>
            <a:ext cx="142875" cy="2286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6072BBE7-746A-E0A9-2EAE-6728515E98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720" y="3297435"/>
            <a:ext cx="762000" cy="7620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1D4997B7-F4E9-9360-9988-54A25FACC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0785" y="3297435"/>
            <a:ext cx="762000" cy="762000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E1155325-90E5-5407-DC27-0C1B4E061A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851" y="3294648"/>
            <a:ext cx="762000" cy="76200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CEE2472A-5442-7971-F1A5-1717940B51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8916" y="3308625"/>
            <a:ext cx="762000" cy="762000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B06B9991-07A1-28FE-0E5F-FE9DE7BCE5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981" y="3294648"/>
            <a:ext cx="762000" cy="76200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B4F9AC5D-1E65-EA22-4AFE-D83D1CF297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4370" y="3526035"/>
            <a:ext cx="266700" cy="30480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7329CE88-1C37-B50F-9588-0F9010063E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0335" y="3526035"/>
            <a:ext cx="342900" cy="304800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535E3D5B-6D1F-1835-04CD-1D2C74C1B6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2501" y="3526035"/>
            <a:ext cx="266700" cy="30480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8EF243DD-1A42-6123-1FDD-A0C40EDDE1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8466" y="3523248"/>
            <a:ext cx="342900" cy="30480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6F45F0EF-198C-09B4-9897-A93EF12643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4266" y="3523248"/>
            <a:ext cx="342900" cy="3048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ADE6F91-4076-0088-42BD-B365D2A7B158}"/>
              </a:ext>
            </a:extLst>
          </p:cNvPr>
          <p:cNvSpPr txBox="1"/>
          <p:nvPr/>
        </p:nvSpPr>
        <p:spPr>
          <a:xfrm>
            <a:off x="3443971" y="4191402"/>
            <a:ext cx="73577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latin typeface="Inter"/>
              </a:rPr>
              <a:t>Indexes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AAAFB1-FD08-7722-21F2-402AB1A58031}"/>
              </a:ext>
            </a:extLst>
          </p:cNvPr>
          <p:cNvSpPr txBox="1"/>
          <p:nvPr/>
        </p:nvSpPr>
        <p:spPr>
          <a:xfrm>
            <a:off x="2829822" y="4592836"/>
            <a:ext cx="1872447" cy="369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dirty="0">
                <a:latin typeface="Inter"/>
              </a:rPr>
              <a:t>1 traditional, 3 learned models.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696A1D-593A-380F-C6F6-07641EF16003}"/>
              </a:ext>
            </a:extLst>
          </p:cNvPr>
          <p:cNvSpPr txBox="1"/>
          <p:nvPr/>
        </p:nvSpPr>
        <p:spPr>
          <a:xfrm>
            <a:off x="5640672" y="4192785"/>
            <a:ext cx="91050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latin typeface="Inter"/>
              </a:rPr>
              <a:t>Workload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D49EA0-E57E-B26B-96B6-B82098A07AC6}"/>
              </a:ext>
            </a:extLst>
          </p:cNvPr>
          <p:cNvSpPr txBox="1"/>
          <p:nvPr/>
        </p:nvSpPr>
        <p:spPr>
          <a:xfrm>
            <a:off x="5093984" y="4596892"/>
            <a:ext cx="207926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dirty="0">
                <a:latin typeface="Inter"/>
              </a:rPr>
              <a:t>Controlled lookup &amp; insert batches.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A1FF5C-F888-C60F-2266-9574F7B9B920}"/>
              </a:ext>
            </a:extLst>
          </p:cNvPr>
          <p:cNvSpPr txBox="1"/>
          <p:nvPr/>
        </p:nvSpPr>
        <p:spPr>
          <a:xfrm>
            <a:off x="8021719" y="4192785"/>
            <a:ext cx="71654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latin typeface="Inter"/>
              </a:rPr>
              <a:t>Metrics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A518FF-C9B4-120C-B42B-C3C174D665AA}"/>
              </a:ext>
            </a:extLst>
          </p:cNvPr>
          <p:cNvSpPr txBox="1"/>
          <p:nvPr/>
        </p:nvSpPr>
        <p:spPr>
          <a:xfrm>
            <a:off x="7380684" y="4592835"/>
            <a:ext cx="214126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dirty="0">
                <a:latin typeface="Inter"/>
              </a:rPr>
              <a:t>Latency (ns), ops/sec, memory (KB).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D2B82D3-C18E-1CEE-22FC-90F64CE8F11B}"/>
              </a:ext>
            </a:extLst>
          </p:cNvPr>
          <p:cNvSpPr txBox="1"/>
          <p:nvPr/>
        </p:nvSpPr>
        <p:spPr>
          <a:xfrm>
            <a:off x="1127692" y="4198923"/>
            <a:ext cx="83356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latin typeface="Inter"/>
              </a:rPr>
              <a:t>Datasets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9C3E95C-C78B-1DBA-8077-CACCDF30A809}"/>
              </a:ext>
            </a:extLst>
          </p:cNvPr>
          <p:cNvSpPr txBox="1"/>
          <p:nvPr/>
        </p:nvSpPr>
        <p:spPr>
          <a:xfrm>
            <a:off x="647728" y="4598521"/>
            <a:ext cx="172772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dirty="0">
                <a:latin typeface="Inter"/>
              </a:rPr>
              <a:t>4 key distributions (N=200k).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A2B2BE-0D9C-7CCE-4833-3F89DB7BB266}"/>
              </a:ext>
            </a:extLst>
          </p:cNvPr>
          <p:cNvSpPr txBox="1"/>
          <p:nvPr/>
        </p:nvSpPr>
        <p:spPr>
          <a:xfrm>
            <a:off x="10132813" y="4196898"/>
            <a:ext cx="102912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latin typeface="Inter"/>
              </a:rPr>
              <a:t>Dashboard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F9A1A4A-C4F4-EFB0-E235-000AFD95CDA5}"/>
              </a:ext>
            </a:extLst>
          </p:cNvPr>
          <p:cNvSpPr txBox="1"/>
          <p:nvPr/>
        </p:nvSpPr>
        <p:spPr>
          <a:xfrm>
            <a:off x="9604734" y="4598521"/>
            <a:ext cx="211504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dirty="0">
                <a:latin typeface="Inter"/>
              </a:rPr>
              <a:t>Interactive </a:t>
            </a:r>
            <a:r>
              <a:rPr lang="en-US" sz="1200" dirty="0" err="1">
                <a:latin typeface="Inter"/>
              </a:rPr>
              <a:t>Streamlit</a:t>
            </a:r>
            <a:r>
              <a:rPr lang="en-US" sz="1200" dirty="0">
                <a:latin typeface="Inter"/>
              </a:rPr>
              <a:t>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4245033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F434A-8D5F-563F-7036-2F7D69F48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Image 0" descr="preencoded.png">
            <a:extLst>
              <a:ext uri="{FF2B5EF4-FFF2-40B4-BE49-F238E27FC236}">
                <a16:creationId xmlns:a16="http://schemas.microsoft.com/office/drawing/2014/main" id="{EC818237-9789-8482-BC29-AA94BFF82E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" b="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11D0BBA-B82C-6C29-92E5-82136DD3DAD6}"/>
              </a:ext>
            </a:extLst>
          </p:cNvPr>
          <p:cNvSpPr/>
          <p:nvPr/>
        </p:nvSpPr>
        <p:spPr>
          <a:xfrm>
            <a:off x="8933620" y="2685171"/>
            <a:ext cx="2614613" cy="234672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F3768BE-39A3-695E-CBBA-432D530D176F}"/>
              </a:ext>
            </a:extLst>
          </p:cNvPr>
          <p:cNvSpPr/>
          <p:nvPr/>
        </p:nvSpPr>
        <p:spPr>
          <a:xfrm>
            <a:off x="6189742" y="2671758"/>
            <a:ext cx="2614613" cy="234672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5FB50DFD-18A5-462A-170B-19AD183A67A0}"/>
              </a:ext>
            </a:extLst>
          </p:cNvPr>
          <p:cNvSpPr/>
          <p:nvPr/>
        </p:nvSpPr>
        <p:spPr>
          <a:xfrm>
            <a:off x="3403942" y="2671758"/>
            <a:ext cx="2614613" cy="234672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128A6F93-9A71-530A-6C42-DBEED2408975}"/>
              </a:ext>
            </a:extLst>
          </p:cNvPr>
          <p:cNvSpPr/>
          <p:nvPr/>
        </p:nvSpPr>
        <p:spPr>
          <a:xfrm>
            <a:off x="609600" y="2671762"/>
            <a:ext cx="2614613" cy="234672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443B603A-0C5A-173D-7B2B-67474CD21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71837"/>
            <a:ext cx="342900" cy="304800"/>
          </a:xfrm>
          <a:prstGeom prst="rect">
            <a:avLst/>
          </a:prstGeom>
        </p:spPr>
      </p:pic>
      <p:pic>
        <p:nvPicPr>
          <p:cNvPr id="44" name="Picture 43" descr="image.png">
            <a:extLst>
              <a:ext uri="{FF2B5EF4-FFF2-40B4-BE49-F238E27FC236}">
                <a16:creationId xmlns:a16="http://schemas.microsoft.com/office/drawing/2014/main" id="{7849F62C-10F0-A3B6-B150-C8EDCB65E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3271837"/>
            <a:ext cx="381000" cy="304800"/>
          </a:xfrm>
          <a:prstGeom prst="rect">
            <a:avLst/>
          </a:prstGeom>
        </p:spPr>
      </p:pic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E9F17044-CE13-472E-72E2-DDF4FA0D59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271837"/>
            <a:ext cx="304800" cy="304800"/>
          </a:xfrm>
          <a:prstGeom prst="rect">
            <a:avLst/>
          </a:prstGeom>
        </p:spPr>
      </p:pic>
      <p:pic>
        <p:nvPicPr>
          <p:cNvPr id="48" name="Picture 47" descr="image.png">
            <a:extLst>
              <a:ext uri="{FF2B5EF4-FFF2-40B4-BE49-F238E27FC236}">
                <a16:creationId xmlns:a16="http://schemas.microsoft.com/office/drawing/2014/main" id="{0BDC6671-53FB-F6EA-B7A5-5A8D0929E0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5450" y="3271837"/>
            <a:ext cx="304800" cy="3048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2DAA453-56DA-7EC1-0844-00C7131F2C8A}"/>
              </a:ext>
            </a:extLst>
          </p:cNvPr>
          <p:cNvSpPr txBox="1"/>
          <p:nvPr/>
        </p:nvSpPr>
        <p:spPr>
          <a:xfrm>
            <a:off x="4289730" y="697110"/>
            <a:ext cx="338394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"/>
              </a:rPr>
              <a:t>EVALUATED</a:t>
            </a:r>
            <a:r>
              <a:rPr sz="1600" b="1" i="0" u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"/>
              </a:rPr>
              <a:t> </a:t>
            </a:r>
            <a:r>
              <a:rPr b="1" i="0" u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"/>
              </a:rPr>
              <a:t>ARCHITECTURES</a:t>
            </a:r>
            <a:endParaRPr sz="1600" b="1" i="0" u="none" dirty="0">
              <a:solidFill>
                <a:schemeClr val="accent4">
                  <a:lumMod val="60000"/>
                  <a:lumOff val="40000"/>
                </a:schemeClr>
              </a:solidFill>
              <a:latin typeface="Inter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363B4D-DF02-6717-BF75-DFB96D25EC22}"/>
              </a:ext>
            </a:extLst>
          </p:cNvPr>
          <p:cNvSpPr txBox="1"/>
          <p:nvPr/>
        </p:nvSpPr>
        <p:spPr>
          <a:xfrm>
            <a:off x="723900" y="1134440"/>
            <a:ext cx="10972800" cy="4812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sz="4400" b="1" i="0" u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"/>
              </a:rPr>
              <a:t>Index</a:t>
            </a:r>
            <a:r>
              <a:rPr sz="3600" b="1" i="0" u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"/>
              </a:rPr>
              <a:t> Structures Implemented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4A5B74-AC90-35A8-BB9E-28E68F154C2E}"/>
              </a:ext>
            </a:extLst>
          </p:cNvPr>
          <p:cNvSpPr txBox="1"/>
          <p:nvPr/>
        </p:nvSpPr>
        <p:spPr>
          <a:xfrm>
            <a:off x="914400" y="2976562"/>
            <a:ext cx="79188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chemeClr val="accent1">
                    <a:lumMod val="75000"/>
                  </a:schemeClr>
                </a:solidFill>
                <a:latin typeface="Inter"/>
              </a:rPr>
              <a:t>TRADITIONAL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2A8A22-891D-4752-DA72-4C1B830559D5}"/>
              </a:ext>
            </a:extLst>
          </p:cNvPr>
          <p:cNvSpPr txBox="1"/>
          <p:nvPr/>
        </p:nvSpPr>
        <p:spPr>
          <a:xfrm>
            <a:off x="914400" y="3805237"/>
            <a:ext cx="257532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Inter"/>
              </a:rPr>
              <a:t>B+ Tree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42BE5E-0BFD-1A75-AAE5-9A6CA2AC0954}"/>
              </a:ext>
            </a:extLst>
          </p:cNvPr>
          <p:cNvSpPr txBox="1"/>
          <p:nvPr/>
        </p:nvSpPr>
        <p:spPr>
          <a:xfrm>
            <a:off x="914400" y="4195762"/>
            <a:ext cx="20574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i="0" u="none" dirty="0">
                <a:solidFill>
                  <a:srgbClr val="475569"/>
                </a:solidFill>
                <a:latin typeface="Inter"/>
              </a:rPr>
              <a:t>Balanced tree for ordered key indexing.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E1E92B-CB97-771E-9457-039F951ADA41}"/>
              </a:ext>
            </a:extLst>
          </p:cNvPr>
          <p:cNvSpPr txBox="1"/>
          <p:nvPr/>
        </p:nvSpPr>
        <p:spPr>
          <a:xfrm>
            <a:off x="3714750" y="2976562"/>
            <a:ext cx="2452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D9488"/>
                </a:solidFill>
                <a:latin typeface="Inter"/>
              </a:rPr>
              <a:t>LEARNED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6CBEC1-52ED-0BDE-6106-62F770BE183F}"/>
              </a:ext>
            </a:extLst>
          </p:cNvPr>
          <p:cNvSpPr txBox="1"/>
          <p:nvPr/>
        </p:nvSpPr>
        <p:spPr>
          <a:xfrm>
            <a:off x="3714750" y="3805237"/>
            <a:ext cx="257532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RMI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2828F97-FA14-E172-7AE3-AA44F062270C}"/>
              </a:ext>
            </a:extLst>
          </p:cNvPr>
          <p:cNvSpPr txBox="1"/>
          <p:nvPr/>
        </p:nvSpPr>
        <p:spPr>
          <a:xfrm>
            <a:off x="3714750" y="4195762"/>
            <a:ext cx="20574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Hierarchical key position prediction.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B60271-2B45-137A-0529-E469D1FFD8DE}"/>
              </a:ext>
            </a:extLst>
          </p:cNvPr>
          <p:cNvSpPr txBox="1"/>
          <p:nvPr/>
        </p:nvSpPr>
        <p:spPr>
          <a:xfrm>
            <a:off x="6515100" y="2976562"/>
            <a:ext cx="2452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Inter"/>
              </a:rPr>
              <a:t>LEARNED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28F2393-781B-87E0-E217-8395F738BECE}"/>
              </a:ext>
            </a:extLst>
          </p:cNvPr>
          <p:cNvSpPr txBox="1"/>
          <p:nvPr/>
        </p:nvSpPr>
        <p:spPr>
          <a:xfrm>
            <a:off x="6515100" y="3805237"/>
            <a:ext cx="257532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PGM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ACA0AB-10A6-82B6-ADDC-C8F4F64E51BF}"/>
              </a:ext>
            </a:extLst>
          </p:cNvPr>
          <p:cNvSpPr txBox="1"/>
          <p:nvPr/>
        </p:nvSpPr>
        <p:spPr>
          <a:xfrm>
            <a:off x="6515100" y="4195762"/>
            <a:ext cx="20574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Piecewise linear segment mapping.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62D82AD-5DD6-E85F-5584-9576F69BE821}"/>
              </a:ext>
            </a:extLst>
          </p:cNvPr>
          <p:cNvSpPr txBox="1"/>
          <p:nvPr/>
        </p:nvSpPr>
        <p:spPr>
          <a:xfrm>
            <a:off x="9315450" y="2976562"/>
            <a:ext cx="2452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D9488"/>
                </a:solidFill>
                <a:latin typeface="Inter"/>
              </a:rPr>
              <a:t>LEARNED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C753FBA-138A-F2CD-A61C-D868CFE44C86}"/>
              </a:ext>
            </a:extLst>
          </p:cNvPr>
          <p:cNvSpPr txBox="1"/>
          <p:nvPr/>
        </p:nvSpPr>
        <p:spPr>
          <a:xfrm>
            <a:off x="9315450" y="3805237"/>
            <a:ext cx="257532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Inter"/>
              </a:rPr>
              <a:t>ALEX-lite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FDEF93-C8AA-2B94-874B-40B6C2112474}"/>
              </a:ext>
            </a:extLst>
          </p:cNvPr>
          <p:cNvSpPr txBox="1"/>
          <p:nvPr/>
        </p:nvSpPr>
        <p:spPr>
          <a:xfrm>
            <a:off x="9315450" y="4195762"/>
            <a:ext cx="20574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Adaptive gapped array structure.</a:t>
            </a:r>
          </a:p>
        </p:txBody>
      </p:sp>
    </p:spTree>
    <p:extLst>
      <p:ext uri="{BB962C8B-B14F-4D97-AF65-F5344CB8AC3E}">
        <p14:creationId xmlns:p14="http://schemas.microsoft.com/office/powerpoint/2010/main" val="658435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3111A-79AB-063E-D08E-44240F6A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F66CCC3-E911-114A-F191-1CA780DAEF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" b="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F975DC08-7D58-41C2-82B9-B603BB1F7A8D}"/>
              </a:ext>
            </a:extLst>
          </p:cNvPr>
          <p:cNvSpPr/>
          <p:nvPr/>
        </p:nvSpPr>
        <p:spPr>
          <a:xfrm>
            <a:off x="5943600" y="1832520"/>
            <a:ext cx="5638800" cy="4415879"/>
          </a:xfrm>
          <a:prstGeom prst="roundRect">
            <a:avLst>
              <a:gd name="adj" fmla="val 3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8B9BF-CD54-6693-3B50-213B3FA2B591}"/>
              </a:ext>
            </a:extLst>
          </p:cNvPr>
          <p:cNvSpPr/>
          <p:nvPr/>
        </p:nvSpPr>
        <p:spPr>
          <a:xfrm>
            <a:off x="6400800" y="4392810"/>
            <a:ext cx="4724400" cy="1209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630350-940E-3270-B035-D15AC80A5C97}"/>
              </a:ext>
            </a:extLst>
          </p:cNvPr>
          <p:cNvSpPr/>
          <p:nvPr/>
        </p:nvSpPr>
        <p:spPr>
          <a:xfrm>
            <a:off x="6400800" y="4392810"/>
            <a:ext cx="47244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D7FAA575-E2EE-7A00-871D-ADE0E9F0217E}"/>
              </a:ext>
            </a:extLst>
          </p:cNvPr>
          <p:cNvSpPr/>
          <p:nvPr/>
        </p:nvSpPr>
        <p:spPr>
          <a:xfrm>
            <a:off x="6400800" y="4992885"/>
            <a:ext cx="1473249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06DE9233-AE4D-6719-EAF8-6E59EC78B425}"/>
              </a:ext>
            </a:extLst>
          </p:cNvPr>
          <p:cNvSpPr/>
          <p:nvPr/>
        </p:nvSpPr>
        <p:spPr>
          <a:xfrm>
            <a:off x="8026449" y="4992885"/>
            <a:ext cx="1473249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C7027DE4-D0A7-923E-E69C-156D177FC978}"/>
              </a:ext>
            </a:extLst>
          </p:cNvPr>
          <p:cNvSpPr/>
          <p:nvPr/>
        </p:nvSpPr>
        <p:spPr>
          <a:xfrm>
            <a:off x="9652099" y="4992885"/>
            <a:ext cx="1473249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2A098808-9DCA-6F5A-36AE-757AC35FB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168848"/>
            <a:ext cx="304800" cy="22860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07D4CBB4-235D-DF78-BBC2-1C2C0DFC5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892748"/>
            <a:ext cx="304800" cy="228600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BAE690E5-90AA-C110-6816-725749A9AF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616648"/>
            <a:ext cx="304800" cy="22860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DEBD7C3B-EAF9-9D1B-33E7-EC6C0C9B66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340548"/>
            <a:ext cx="304800" cy="228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24F0EF5-A8F5-8CA1-DDDA-BE7A8EAEA7B5}"/>
              </a:ext>
            </a:extLst>
          </p:cNvPr>
          <p:cNvSpPr txBox="1"/>
          <p:nvPr/>
        </p:nvSpPr>
        <p:spPr>
          <a:xfrm>
            <a:off x="609600" y="609600"/>
            <a:ext cx="10972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"/>
              </a:rPr>
              <a:t>TESTING PARAMETERS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457D7F-C829-AF2F-F878-BEAFA15A72ED}"/>
              </a:ext>
            </a:extLst>
          </p:cNvPr>
          <p:cNvSpPr txBox="1"/>
          <p:nvPr/>
        </p:nvSpPr>
        <p:spPr>
          <a:xfrm>
            <a:off x="609600" y="1055122"/>
            <a:ext cx="11101431" cy="49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sz="4800" b="1" i="0" u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"/>
              </a:rPr>
              <a:t>Datasets &amp; Setup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2644DB-94A5-BE8B-1EFE-865230D21D0F}"/>
              </a:ext>
            </a:extLst>
          </p:cNvPr>
          <p:cNvSpPr txBox="1"/>
          <p:nvPr/>
        </p:nvSpPr>
        <p:spPr>
          <a:xfrm>
            <a:off x="609600" y="2416373"/>
            <a:ext cx="193803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latin typeface="Inter"/>
              </a:rPr>
              <a:t>Key Distributions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1B70D3-7228-BFD5-11BE-D1B037195FFD}"/>
              </a:ext>
            </a:extLst>
          </p:cNvPr>
          <p:cNvSpPr txBox="1"/>
          <p:nvPr/>
        </p:nvSpPr>
        <p:spPr>
          <a:xfrm>
            <a:off x="6400800" y="2478285"/>
            <a:ext cx="57912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Workload Settings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349B38-823F-07B6-9AF3-5180538A731F}"/>
              </a:ext>
            </a:extLst>
          </p:cNvPr>
          <p:cNvSpPr txBox="1"/>
          <p:nvPr/>
        </p:nvSpPr>
        <p:spPr>
          <a:xfrm>
            <a:off x="6400800" y="4640460"/>
            <a:ext cx="5791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Workload Sizes Evaluated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C25190-1DCC-D68A-55B5-CD346D811FD7}"/>
              </a:ext>
            </a:extLst>
          </p:cNvPr>
          <p:cNvSpPr txBox="1"/>
          <p:nvPr/>
        </p:nvSpPr>
        <p:spPr>
          <a:xfrm>
            <a:off x="1066800" y="3073598"/>
            <a:ext cx="76142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latin typeface="Inter"/>
              </a:rPr>
              <a:t>Uniform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3C4448-010B-D2FF-D4E1-1498163175AB}"/>
              </a:ext>
            </a:extLst>
          </p:cNvPr>
          <p:cNvSpPr txBox="1"/>
          <p:nvPr/>
        </p:nvSpPr>
        <p:spPr>
          <a:xfrm>
            <a:off x="1066800" y="3302198"/>
            <a:ext cx="202459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latin typeface="Inter"/>
              </a:rPr>
              <a:t>Evenly distributed mapping.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0CCA5C-1824-8227-7808-3B45F5FD4BAA}"/>
              </a:ext>
            </a:extLst>
          </p:cNvPr>
          <p:cNvSpPr txBox="1"/>
          <p:nvPr/>
        </p:nvSpPr>
        <p:spPr>
          <a:xfrm>
            <a:off x="1066800" y="3797498"/>
            <a:ext cx="100989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latin typeface="Inter"/>
              </a:rPr>
              <a:t>Lognormal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79BB2D-F0D2-B0E4-97C0-623E9C7EB382}"/>
              </a:ext>
            </a:extLst>
          </p:cNvPr>
          <p:cNvSpPr txBox="1"/>
          <p:nvPr/>
        </p:nvSpPr>
        <p:spPr>
          <a:xfrm>
            <a:off x="1066800" y="4026098"/>
            <a:ext cx="18691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latin typeface="Inter"/>
              </a:rPr>
              <a:t>Highly skewed clustering.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6D0C8D-F46F-12B1-94B4-43688CDF2273}"/>
              </a:ext>
            </a:extLst>
          </p:cNvPr>
          <p:cNvSpPr txBox="1"/>
          <p:nvPr/>
        </p:nvSpPr>
        <p:spPr>
          <a:xfrm>
            <a:off x="1066800" y="4521398"/>
            <a:ext cx="180017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latin typeface="Inter"/>
              </a:rPr>
              <a:t>Weblog / Clustered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926D55-61E1-0088-73BC-88883EDECA7D}"/>
              </a:ext>
            </a:extLst>
          </p:cNvPr>
          <p:cNvSpPr txBox="1"/>
          <p:nvPr/>
        </p:nvSpPr>
        <p:spPr>
          <a:xfrm>
            <a:off x="1066800" y="4749998"/>
            <a:ext cx="210955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latin typeface="Inter"/>
              </a:rPr>
              <a:t>Grouped key concentrations.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0673AE-4C5A-8EE3-2A05-0991EE1DD4FF}"/>
              </a:ext>
            </a:extLst>
          </p:cNvPr>
          <p:cNvSpPr txBox="1"/>
          <p:nvPr/>
        </p:nvSpPr>
        <p:spPr>
          <a:xfrm>
            <a:off x="1066800" y="5245298"/>
            <a:ext cx="159017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latin typeface="Inter"/>
              </a:rPr>
              <a:t>Sequential Noise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C84B8C-4EB8-1D11-9FC7-8E2CB3BE9C3A}"/>
              </a:ext>
            </a:extLst>
          </p:cNvPr>
          <p:cNvSpPr txBox="1"/>
          <p:nvPr/>
        </p:nvSpPr>
        <p:spPr>
          <a:xfrm>
            <a:off x="1066800" y="5473898"/>
            <a:ext cx="190116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latin typeface="Inter"/>
              </a:rPr>
              <a:t>Mostly ordered variations.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4FFAB1-979E-0858-389D-A02C7D5C7141}"/>
              </a:ext>
            </a:extLst>
          </p:cNvPr>
          <p:cNvSpPr txBox="1"/>
          <p:nvPr/>
        </p:nvSpPr>
        <p:spPr>
          <a:xfrm>
            <a:off x="6400800" y="3135510"/>
            <a:ext cx="13716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1" i="0" u="none">
                <a:solidFill>
                  <a:srgbClr val="EA580C"/>
                </a:solidFill>
                <a:latin typeface="Inter"/>
              </a:rPr>
              <a:t>500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A70112-032E-C755-C6AF-C93D2158CBC9}"/>
              </a:ext>
            </a:extLst>
          </p:cNvPr>
          <p:cNvSpPr txBox="1"/>
          <p:nvPr/>
        </p:nvSpPr>
        <p:spPr>
          <a:xfrm>
            <a:off x="6400800" y="3745110"/>
            <a:ext cx="1371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Inter"/>
              </a:rPr>
              <a:t>Ops / Trial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9EC67C-3F40-CF22-4259-B47A1E90F4B5}"/>
              </a:ext>
            </a:extLst>
          </p:cNvPr>
          <p:cNvSpPr txBox="1"/>
          <p:nvPr/>
        </p:nvSpPr>
        <p:spPr>
          <a:xfrm>
            <a:off x="8281987" y="3135510"/>
            <a:ext cx="1095375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1" i="0" u="none">
                <a:solidFill>
                  <a:srgbClr val="EA580C"/>
                </a:solidFill>
                <a:latin typeface="Inter"/>
              </a:rPr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195245-F451-3565-D4CB-08E3AF734D82}"/>
              </a:ext>
            </a:extLst>
          </p:cNvPr>
          <p:cNvSpPr txBox="1"/>
          <p:nvPr/>
        </p:nvSpPr>
        <p:spPr>
          <a:xfrm>
            <a:off x="8281987" y="3745110"/>
            <a:ext cx="1095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Inter"/>
              </a:rPr>
              <a:t>Total Trials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93BFFD-32D7-933E-A7EB-CD3FD3C15F67}"/>
              </a:ext>
            </a:extLst>
          </p:cNvPr>
          <p:cNvSpPr txBox="1"/>
          <p:nvPr/>
        </p:nvSpPr>
        <p:spPr>
          <a:xfrm>
            <a:off x="9886950" y="3135510"/>
            <a:ext cx="1547812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1" i="0" u="none">
                <a:solidFill>
                  <a:srgbClr val="EA580C"/>
                </a:solidFill>
                <a:latin typeface="Inter"/>
              </a:rPr>
              <a:t>25%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F0BC581-D612-9BAC-F7B6-2A8CD48799F6}"/>
              </a:ext>
            </a:extLst>
          </p:cNvPr>
          <p:cNvSpPr txBox="1"/>
          <p:nvPr/>
        </p:nvSpPr>
        <p:spPr>
          <a:xfrm>
            <a:off x="9886950" y="3745110"/>
            <a:ext cx="1547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Inter"/>
              </a:rPr>
              <a:t>Deletion Rate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891F582-46D3-78DC-3CA2-195BB5D927DC}"/>
              </a:ext>
            </a:extLst>
          </p:cNvPr>
          <p:cNvSpPr txBox="1"/>
          <p:nvPr/>
        </p:nvSpPr>
        <p:spPr>
          <a:xfrm>
            <a:off x="6496050" y="5116710"/>
            <a:ext cx="128274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Small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6F28006-165A-9801-20FF-784F744E62F4}"/>
              </a:ext>
            </a:extLst>
          </p:cNvPr>
          <p:cNvSpPr txBox="1"/>
          <p:nvPr/>
        </p:nvSpPr>
        <p:spPr>
          <a:xfrm>
            <a:off x="6496050" y="5278635"/>
            <a:ext cx="12827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5–20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868EDCF-044E-F739-B4AA-3E8E8AFF5F4F}"/>
              </a:ext>
            </a:extLst>
          </p:cNvPr>
          <p:cNvSpPr txBox="1"/>
          <p:nvPr/>
        </p:nvSpPr>
        <p:spPr>
          <a:xfrm>
            <a:off x="8121699" y="5116710"/>
            <a:ext cx="128274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Medium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02E8E2F-8E27-D993-6790-F7DC96C5DE6C}"/>
              </a:ext>
            </a:extLst>
          </p:cNvPr>
          <p:cNvSpPr txBox="1"/>
          <p:nvPr/>
        </p:nvSpPr>
        <p:spPr>
          <a:xfrm>
            <a:off x="8121699" y="5278635"/>
            <a:ext cx="12827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20–100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4C39ADF-D833-78DE-D953-C49F8E933FFE}"/>
              </a:ext>
            </a:extLst>
          </p:cNvPr>
          <p:cNvSpPr txBox="1"/>
          <p:nvPr/>
        </p:nvSpPr>
        <p:spPr>
          <a:xfrm>
            <a:off x="9747349" y="5116710"/>
            <a:ext cx="128274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Large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BC5F59E-A7A2-2237-E42E-22A3FE405A9C}"/>
              </a:ext>
            </a:extLst>
          </p:cNvPr>
          <p:cNvSpPr txBox="1"/>
          <p:nvPr/>
        </p:nvSpPr>
        <p:spPr>
          <a:xfrm>
            <a:off x="9747349" y="5278635"/>
            <a:ext cx="12827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100–250</a:t>
            </a:r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3488D069-14BC-D277-2259-B4DDB5C37DC4}"/>
              </a:ext>
            </a:extLst>
          </p:cNvPr>
          <p:cNvSpPr/>
          <p:nvPr/>
        </p:nvSpPr>
        <p:spPr>
          <a:xfrm>
            <a:off x="555292" y="1848522"/>
            <a:ext cx="2924175" cy="419100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Inter"/>
              </a:rPr>
              <a:t>Dataset Scale: N = 200,000 keys</a:t>
            </a:r>
          </a:p>
        </p:txBody>
      </p:sp>
    </p:spTree>
    <p:extLst>
      <p:ext uri="{BB962C8B-B14F-4D97-AF65-F5344CB8AC3E}">
        <p14:creationId xmlns:p14="http://schemas.microsoft.com/office/powerpoint/2010/main" val="1592324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AC884-4B56-8D19-C5B0-96C086754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image.png">
            <a:extLst>
              <a:ext uri="{FF2B5EF4-FFF2-40B4-BE49-F238E27FC236}">
                <a16:creationId xmlns:a16="http://schemas.microsoft.com/office/drawing/2014/main" id="{DC8EE26D-AC15-77A1-5A60-C094AC129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78323"/>
            <a:ext cx="200025" cy="228600"/>
          </a:xfrm>
          <a:prstGeom prst="rect">
            <a:avLst/>
          </a:prstGeom>
        </p:spPr>
      </p:pic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3F8506A5-0EEE-7FF5-D62D-EE8A4363B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35548"/>
            <a:ext cx="257175" cy="228600"/>
          </a:xfrm>
          <a:prstGeom prst="rect">
            <a:avLst/>
          </a:prstGeom>
        </p:spPr>
      </p:pic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A3061039-12D4-DC6F-9225-365D54A9F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092773"/>
            <a:ext cx="228600" cy="228600"/>
          </a:xfrm>
          <a:prstGeom prst="rect">
            <a:avLst/>
          </a:prstGeom>
        </p:spPr>
      </p:pic>
      <p:pic>
        <p:nvPicPr>
          <p:cNvPr id="56" name="Picture 55" descr="image.png">
            <a:extLst>
              <a:ext uri="{FF2B5EF4-FFF2-40B4-BE49-F238E27FC236}">
                <a16:creationId xmlns:a16="http://schemas.microsoft.com/office/drawing/2014/main" id="{8DEA1365-560B-F381-1537-3609ABB169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950023"/>
            <a:ext cx="228600" cy="228600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E4161B9F-35EB-9650-4567-929F3FACC6C0}"/>
              </a:ext>
            </a:extLst>
          </p:cNvPr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Inter"/>
              </a:rPr>
              <a:t>EVALUATION METRICS AND DASHBOARD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66CC325-5387-528F-0CDC-DC779EE7BCDA}"/>
              </a:ext>
            </a:extLst>
          </p:cNvPr>
          <p:cNvSpPr txBox="1"/>
          <p:nvPr/>
        </p:nvSpPr>
        <p:spPr>
          <a:xfrm>
            <a:off x="609600" y="914400"/>
            <a:ext cx="11582400" cy="460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sz="3300" b="1" i="0" u="none">
                <a:solidFill>
                  <a:srgbClr val="0F172A"/>
                </a:solidFill>
                <a:latin typeface="Inter"/>
              </a:rPr>
              <a:t>What We Measured &amp; Visualized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D92E34-D96F-893D-4D92-C8F6A44BA780}"/>
              </a:ext>
            </a:extLst>
          </p:cNvPr>
          <p:cNvSpPr txBox="1"/>
          <p:nvPr/>
        </p:nvSpPr>
        <p:spPr>
          <a:xfrm>
            <a:off x="962025" y="2740223"/>
            <a:ext cx="149399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latin typeface="Inter"/>
              </a:rPr>
              <a:t>Lookup Latency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8238285-67D6-282A-D5A0-1BF9FF4228A5}"/>
              </a:ext>
            </a:extLst>
          </p:cNvPr>
          <p:cNvSpPr txBox="1"/>
          <p:nvPr/>
        </p:nvSpPr>
        <p:spPr>
          <a:xfrm>
            <a:off x="962025" y="2968823"/>
            <a:ext cx="393056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latin typeface="Inter"/>
              </a:rPr>
              <a:t>Mean retrieval time strictly in nanoseconds (ns).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B37FBDF-E2AD-C22B-A2F9-36401A3087C7}"/>
              </a:ext>
            </a:extLst>
          </p:cNvPr>
          <p:cNvSpPr txBox="1"/>
          <p:nvPr/>
        </p:nvSpPr>
        <p:spPr>
          <a:xfrm>
            <a:off x="1019175" y="3397448"/>
            <a:ext cx="168956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latin typeface="Inter"/>
              </a:rPr>
              <a:t>Memory Footprint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50EF30E-589E-BF7C-5C87-88B310045E5A}"/>
              </a:ext>
            </a:extLst>
          </p:cNvPr>
          <p:cNvSpPr txBox="1"/>
          <p:nvPr/>
        </p:nvSpPr>
        <p:spPr>
          <a:xfrm>
            <a:off x="1019175" y="3626048"/>
            <a:ext cx="441306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latin typeface="Inter"/>
              </a:rPr>
              <a:t>Kilobytes (KB) capturing model parameters vs. nodes.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223EDC9-F4F8-6B7C-4556-786332F29081}"/>
              </a:ext>
            </a:extLst>
          </p:cNvPr>
          <p:cNvSpPr txBox="1"/>
          <p:nvPr/>
        </p:nvSpPr>
        <p:spPr>
          <a:xfrm>
            <a:off x="990600" y="4054673"/>
            <a:ext cx="163826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latin typeface="Inter"/>
              </a:rPr>
              <a:t>Mixed Workloads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C8F0402-CF4B-554D-3AD2-D802037CBB53}"/>
              </a:ext>
            </a:extLst>
          </p:cNvPr>
          <p:cNvSpPr txBox="1"/>
          <p:nvPr/>
        </p:nvSpPr>
        <p:spPr>
          <a:xfrm>
            <a:off x="990600" y="4283273"/>
            <a:ext cx="49720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latin typeface="Inter"/>
              </a:rPr>
              <a:t>Throughput (ops/sec) evaluated under varying read/write ratios.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2EC8058-FED3-C65E-7EB0-FB358C8AA28A}"/>
              </a:ext>
            </a:extLst>
          </p:cNvPr>
          <p:cNvSpPr txBox="1"/>
          <p:nvPr/>
        </p:nvSpPr>
        <p:spPr>
          <a:xfrm>
            <a:off x="990600" y="4911923"/>
            <a:ext cx="186268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latin typeface="Inter"/>
              </a:rPr>
              <a:t>Sensitivity Analysis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06507CC-1EA0-BB51-265F-9D0A7AD3A63B}"/>
              </a:ext>
            </a:extLst>
          </p:cNvPr>
          <p:cNvSpPr txBox="1"/>
          <p:nvPr/>
        </p:nvSpPr>
        <p:spPr>
          <a:xfrm>
            <a:off x="990600" y="5140523"/>
            <a:ext cx="483626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latin typeface="Inter"/>
              </a:rPr>
              <a:t>Tracking footprint scaling when modifying model variables.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DC9D973D-37A3-CA78-46DB-1AAA5703C93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237"/>
          <a:stretch>
            <a:fillRect/>
          </a:stretch>
        </p:blipFill>
        <p:spPr>
          <a:xfrm>
            <a:off x="6096000" y="2408040"/>
            <a:ext cx="5840827" cy="299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00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6A350-946C-BEA1-2FC9-E148110B8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FA1FDCC-02E6-8E15-2385-A773F8C637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" b="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BCE9FDC-C7EB-FAD6-57BB-CA17CC00A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04" y="6096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5400" b="1" i="0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Approaches at a Glance</a:t>
            </a:r>
            <a:endParaRPr lang="en-US" sz="5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8A17C4D-E9DB-E934-9715-2CBB4CB1AC5F}"/>
              </a:ext>
            </a:extLst>
          </p:cNvPr>
          <p:cNvSpPr/>
          <p:nvPr/>
        </p:nvSpPr>
        <p:spPr>
          <a:xfrm>
            <a:off x="1101212" y="1239510"/>
            <a:ext cx="1056899" cy="27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9E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028A0EB-B5AA-765C-5C47-5F3CA48F693B}"/>
              </a:ext>
            </a:extLst>
          </p:cNvPr>
          <p:cNvSpPr/>
          <p:nvPr/>
        </p:nvSpPr>
        <p:spPr>
          <a:xfrm>
            <a:off x="2844800" y="1239509"/>
            <a:ext cx="43298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9E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17D3CC7-BA22-18F0-36DA-1700D1331D11}"/>
              </a:ext>
            </a:extLst>
          </p:cNvPr>
          <p:cNvSpPr/>
          <p:nvPr/>
        </p:nvSpPr>
        <p:spPr>
          <a:xfrm>
            <a:off x="7175500" y="1239509"/>
            <a:ext cx="43298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9E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MECHANISM</a:t>
            </a:r>
            <a:endParaRPr lang="en-US" sz="1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FCB262C-54EA-6C4C-B557-E822F446F34D}"/>
              </a:ext>
            </a:extLst>
          </p:cNvPr>
          <p:cNvSpPr/>
          <p:nvPr/>
        </p:nvSpPr>
        <p:spPr>
          <a:xfrm>
            <a:off x="812799" y="1579829"/>
            <a:ext cx="2031999" cy="764447"/>
          </a:xfrm>
          <a:prstGeom prst="roundRect">
            <a:avLst>
              <a:gd name="adj" fmla="val 13291"/>
            </a:avLst>
          </a:prstGeom>
          <a:solidFill>
            <a:srgbClr val="DCE9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AB41655-8650-6DF2-9CB7-0BA6E61403E5}"/>
              </a:ext>
            </a:extLst>
          </p:cNvPr>
          <p:cNvSpPr/>
          <p:nvPr/>
        </p:nvSpPr>
        <p:spPr>
          <a:xfrm>
            <a:off x="965200" y="1694129"/>
            <a:ext cx="16510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Tree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EABF28E-3545-0B8A-3E61-0A4AAAB06330}"/>
              </a:ext>
            </a:extLst>
          </p:cNvPr>
          <p:cNvSpPr/>
          <p:nvPr/>
        </p:nvSpPr>
        <p:spPr>
          <a:xfrm>
            <a:off x="965200" y="2016658"/>
            <a:ext cx="165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5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7727768-7A75-3457-C24F-12B915959565}"/>
              </a:ext>
            </a:extLst>
          </p:cNvPr>
          <p:cNvSpPr/>
          <p:nvPr/>
        </p:nvSpPr>
        <p:spPr>
          <a:xfrm>
            <a:off x="3411794" y="1579829"/>
            <a:ext cx="3636706" cy="764447"/>
          </a:xfrm>
          <a:prstGeom prst="roundRect">
            <a:avLst>
              <a:gd name="adj" fmla="val 13291"/>
            </a:avLst>
          </a:prstGeom>
          <a:solidFill>
            <a:srgbClr val="D8F0EB"/>
          </a:solidFill>
          <a:ln/>
        </p:spPr>
        <p:txBody>
          <a:bodyPr wrap="square" lIns="148042" tIns="84542" rIns="148042" bIns="84542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Traverses tree levels to reach the leaf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7C92A9F-EFC8-508F-56A7-F6A7539F81CE}"/>
              </a:ext>
            </a:extLst>
          </p:cNvPr>
          <p:cNvSpPr/>
          <p:nvPr/>
        </p:nvSpPr>
        <p:spPr>
          <a:xfrm>
            <a:off x="7771135" y="1579829"/>
            <a:ext cx="3138539" cy="764447"/>
          </a:xfrm>
          <a:prstGeom prst="roundRect">
            <a:avLst>
              <a:gd name="adj" fmla="val 13291"/>
            </a:avLst>
          </a:prstGeom>
          <a:solidFill>
            <a:srgbClr val="D8F0EB"/>
          </a:solidFill>
          <a:ln/>
        </p:spPr>
        <p:txBody>
          <a:bodyPr wrap="square" lIns="148042" tIns="84542" rIns="148042" bIns="84542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keys node by node</a:t>
            </a:r>
            <a:endParaRPr lang="en-US" sz="1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5612B1A-F7E2-9BDA-EC2A-825167D0E415}"/>
              </a:ext>
            </a:extLst>
          </p:cNvPr>
          <p:cNvSpPr/>
          <p:nvPr/>
        </p:nvSpPr>
        <p:spPr>
          <a:xfrm>
            <a:off x="812800" y="2471279"/>
            <a:ext cx="2032000" cy="764447"/>
          </a:xfrm>
          <a:prstGeom prst="roundRect">
            <a:avLst>
              <a:gd name="adj" fmla="val 13291"/>
            </a:avLst>
          </a:prstGeom>
          <a:solidFill>
            <a:srgbClr val="A8DC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0A70DDA-DD2A-0CF9-3F75-7893E56C838A}"/>
              </a:ext>
            </a:extLst>
          </p:cNvPr>
          <p:cNvSpPr/>
          <p:nvPr/>
        </p:nvSpPr>
        <p:spPr>
          <a:xfrm>
            <a:off x="965200" y="2585579"/>
            <a:ext cx="16510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RMI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175E8C0-5CC3-7F7C-8027-138C56A136BB}"/>
              </a:ext>
            </a:extLst>
          </p:cNvPr>
          <p:cNvSpPr/>
          <p:nvPr/>
        </p:nvSpPr>
        <p:spPr>
          <a:xfrm>
            <a:off x="965200" y="2908102"/>
            <a:ext cx="165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1D9F2E8-3B65-D1C3-5944-E1D303AFB677}"/>
              </a:ext>
            </a:extLst>
          </p:cNvPr>
          <p:cNvSpPr/>
          <p:nvPr/>
        </p:nvSpPr>
        <p:spPr>
          <a:xfrm>
            <a:off x="3411792" y="2471279"/>
            <a:ext cx="3636707" cy="764447"/>
          </a:xfrm>
          <a:prstGeom prst="roundRect">
            <a:avLst>
              <a:gd name="adj" fmla="val 13291"/>
            </a:avLst>
          </a:prstGeom>
          <a:solidFill>
            <a:srgbClr val="D8F0EB"/>
          </a:solidFill>
          <a:ln/>
        </p:spPr>
        <p:txBody>
          <a:bodyPr wrap="square" lIns="148042" tIns="84542" rIns="148042" bIns="84542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 of models predicts position</a:t>
            </a:r>
            <a:endParaRPr lang="en-US" sz="14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32F3FCA-C2D0-E5AF-024A-4ADF49D626DD}"/>
              </a:ext>
            </a:extLst>
          </p:cNvPr>
          <p:cNvSpPr/>
          <p:nvPr/>
        </p:nvSpPr>
        <p:spPr>
          <a:xfrm>
            <a:off x="7771135" y="2471278"/>
            <a:ext cx="3138539" cy="764447"/>
          </a:xfrm>
          <a:prstGeom prst="roundRect">
            <a:avLst>
              <a:gd name="adj" fmla="val 13291"/>
            </a:avLst>
          </a:prstGeom>
          <a:solidFill>
            <a:srgbClr val="D8F0EB"/>
          </a:solidFill>
          <a:ln/>
        </p:spPr>
        <p:txBody>
          <a:bodyPr wrap="square" lIns="148042" tIns="84542" rIns="148042" bIns="84542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model selects a submodel</a:t>
            </a:r>
            <a:endParaRPr lang="en-US" sz="14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F44BB15-FE45-95B8-CDFC-E10F5EA7213D}"/>
              </a:ext>
            </a:extLst>
          </p:cNvPr>
          <p:cNvSpPr/>
          <p:nvPr/>
        </p:nvSpPr>
        <p:spPr>
          <a:xfrm>
            <a:off x="812800" y="3362722"/>
            <a:ext cx="2032000" cy="764447"/>
          </a:xfrm>
          <a:prstGeom prst="roundRect">
            <a:avLst>
              <a:gd name="adj" fmla="val 13291"/>
            </a:avLst>
          </a:prstGeom>
          <a:solidFill>
            <a:srgbClr val="A8DC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EC08D19-4BC2-3C7F-18CA-4B13B7AC5F69}"/>
              </a:ext>
            </a:extLst>
          </p:cNvPr>
          <p:cNvSpPr/>
          <p:nvPr/>
        </p:nvSpPr>
        <p:spPr>
          <a:xfrm>
            <a:off x="965200" y="3477022"/>
            <a:ext cx="16510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PGM</a:t>
            </a:r>
            <a:endParaRPr lang="en-US" sz="1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50B8336-FC4C-1160-93A7-D592A89EFEB5}"/>
              </a:ext>
            </a:extLst>
          </p:cNvPr>
          <p:cNvSpPr/>
          <p:nvPr/>
        </p:nvSpPr>
        <p:spPr>
          <a:xfrm>
            <a:off x="965200" y="3799551"/>
            <a:ext cx="165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</a:t>
            </a:r>
            <a:endParaRPr lang="en-US" sz="12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D9B8DD5-7494-B970-3EF2-FDC695729E1E}"/>
              </a:ext>
            </a:extLst>
          </p:cNvPr>
          <p:cNvSpPr/>
          <p:nvPr/>
        </p:nvSpPr>
        <p:spPr>
          <a:xfrm>
            <a:off x="3411792" y="3362722"/>
            <a:ext cx="3636708" cy="764447"/>
          </a:xfrm>
          <a:prstGeom prst="roundRect">
            <a:avLst>
              <a:gd name="adj" fmla="val 13291"/>
            </a:avLst>
          </a:prstGeom>
          <a:solidFill>
            <a:srgbClr val="D8F0EB"/>
          </a:solidFill>
          <a:ln/>
        </p:spPr>
        <p:txBody>
          <a:bodyPr wrap="square" lIns="148042" tIns="84542" rIns="148042" bIns="84542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segments approximate key → position</a:t>
            </a:r>
            <a:endParaRPr lang="en-US" sz="1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73677CE-D531-62F6-C3E4-467821E3062D}"/>
              </a:ext>
            </a:extLst>
          </p:cNvPr>
          <p:cNvSpPr/>
          <p:nvPr/>
        </p:nvSpPr>
        <p:spPr>
          <a:xfrm>
            <a:off x="7771135" y="3362722"/>
            <a:ext cx="3138539" cy="764447"/>
          </a:xfrm>
          <a:prstGeom prst="roundRect">
            <a:avLst>
              <a:gd name="adj" fmla="val 13291"/>
            </a:avLst>
          </a:prstGeom>
          <a:solidFill>
            <a:srgbClr val="D8F0EB"/>
          </a:solidFill>
          <a:ln/>
        </p:spPr>
        <p:txBody>
          <a:bodyPr wrap="square" lIns="148042" tIns="84542" rIns="148042" bIns="84542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Epsilon (ε) bounds the error</a:t>
            </a:r>
            <a:endParaRPr lang="en-US" sz="14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3AFAA99E-4CBE-3E98-4650-99A23D694E27}"/>
              </a:ext>
            </a:extLst>
          </p:cNvPr>
          <p:cNvSpPr/>
          <p:nvPr/>
        </p:nvSpPr>
        <p:spPr>
          <a:xfrm>
            <a:off x="812800" y="4259571"/>
            <a:ext cx="2032000" cy="764447"/>
          </a:xfrm>
          <a:prstGeom prst="roundRect">
            <a:avLst>
              <a:gd name="adj" fmla="val 13291"/>
            </a:avLst>
          </a:prstGeom>
          <a:solidFill>
            <a:srgbClr val="A8DC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3B276F7-4AE9-0115-DF05-894CA2510897}"/>
              </a:ext>
            </a:extLst>
          </p:cNvPr>
          <p:cNvSpPr/>
          <p:nvPr/>
        </p:nvSpPr>
        <p:spPr>
          <a:xfrm>
            <a:off x="965200" y="4368471"/>
            <a:ext cx="16510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ALEX-lite</a:t>
            </a:r>
            <a:endParaRPr lang="en-US" sz="16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AF8764D-2C26-85CD-AB02-9FBF0A08E4D8}"/>
              </a:ext>
            </a:extLst>
          </p:cNvPr>
          <p:cNvSpPr/>
          <p:nvPr/>
        </p:nvSpPr>
        <p:spPr>
          <a:xfrm>
            <a:off x="965200" y="4691000"/>
            <a:ext cx="165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</a:t>
            </a:r>
            <a:endParaRPr lang="en-US" sz="12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5E817572-BA60-9B3C-58BC-5A5361273E6B}"/>
              </a:ext>
            </a:extLst>
          </p:cNvPr>
          <p:cNvSpPr/>
          <p:nvPr/>
        </p:nvSpPr>
        <p:spPr>
          <a:xfrm>
            <a:off x="3411790" y="4254171"/>
            <a:ext cx="3636709" cy="764447"/>
          </a:xfrm>
          <a:prstGeom prst="roundRect">
            <a:avLst>
              <a:gd name="adj" fmla="val 13291"/>
            </a:avLst>
          </a:prstGeom>
          <a:solidFill>
            <a:srgbClr val="D8F0EB"/>
          </a:solidFill>
          <a:ln/>
        </p:spPr>
        <p:txBody>
          <a:bodyPr wrap="square" lIns="148042" tIns="84542" rIns="148042" bIns="84542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plus an array with gaps</a:t>
            </a:r>
            <a:endParaRPr lang="en-US" sz="14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2B44811-CD43-8C69-2DBD-C6EAC46F45E1}"/>
              </a:ext>
            </a:extLst>
          </p:cNvPr>
          <p:cNvSpPr/>
          <p:nvPr/>
        </p:nvSpPr>
        <p:spPr>
          <a:xfrm>
            <a:off x="7771134" y="4254171"/>
            <a:ext cx="3138539" cy="764447"/>
          </a:xfrm>
          <a:prstGeom prst="roundRect">
            <a:avLst>
              <a:gd name="adj" fmla="val 13291"/>
            </a:avLst>
          </a:prstGeom>
          <a:solidFill>
            <a:srgbClr val="D8F0EB"/>
          </a:solidFill>
          <a:ln/>
        </p:spPr>
        <p:txBody>
          <a:bodyPr wrap="square" lIns="148042" tIns="84542" rIns="148042" bIns="84542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absorb new insertions</a:t>
            </a:r>
            <a:endParaRPr lang="en-US" sz="14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1E792E5-59EC-7486-6760-7679D26A7A29}"/>
              </a:ext>
            </a:extLst>
          </p:cNvPr>
          <p:cNvSpPr/>
          <p:nvPr/>
        </p:nvSpPr>
        <p:spPr>
          <a:xfrm>
            <a:off x="825500" y="5339091"/>
            <a:ext cx="10553700" cy="558800"/>
          </a:xfrm>
          <a:prstGeom prst="roundRect">
            <a:avLst>
              <a:gd name="adj" fmla="val 21591"/>
            </a:avLst>
          </a:prstGeom>
          <a:solidFill>
            <a:srgbClr val="0F2A4D"/>
          </a:solidFill>
          <a:ln w="12700">
            <a:solidFill>
              <a:srgbClr val="F6D391"/>
            </a:solidFill>
            <a:prstDash val="solid"/>
          </a:ln>
        </p:spPr>
        <p:txBody>
          <a:bodyPr wrap="square" lIns="225013" tIns="110713" rIns="225013" bIns="85313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Recap: one traditional index, three learned indexes — search vs. predict.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8228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3" b="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02728" y="1405006"/>
            <a:ext cx="1532665" cy="353020"/>
          </a:xfrm>
          <a:prstGeom prst="roundRect">
            <a:avLst>
              <a:gd name="adj" fmla="val 50000"/>
            </a:avLst>
          </a:prstGeom>
          <a:solidFill>
            <a:srgbClr val="0B4F4B"/>
          </a:solidFill>
          <a:ln w="12700">
            <a:solidFill>
              <a:srgbClr val="2C7F7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Learned Index</a:t>
            </a:r>
            <a:endParaRPr lang="en-US" sz="1200" dirty="0"/>
          </a:p>
        </p:txBody>
      </p:sp>
      <p:pic>
        <p:nvPicPr>
          <p:cNvPr id="4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43343" y="1511635"/>
            <a:ext cx="203200" cy="139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54493" y="1405006"/>
            <a:ext cx="778801" cy="353020"/>
          </a:xfrm>
          <a:prstGeom prst="roundRect">
            <a:avLst>
              <a:gd name="adj" fmla="val 50000"/>
            </a:avLst>
          </a:prstGeom>
          <a:solidFill>
            <a:srgbClr val="0B4F4B"/>
          </a:solidFill>
          <a:ln w="12700">
            <a:solidFill>
              <a:srgbClr val="2C7F7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RMI</a:t>
            </a:r>
            <a:endParaRPr lang="en-US" sz="1200" dirty="0"/>
          </a:p>
        </p:txBody>
      </p:sp>
      <p:pic>
        <p:nvPicPr>
          <p:cNvPr id="6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1244" y="1511635"/>
            <a:ext cx="203200" cy="1397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52394" y="1405006"/>
            <a:ext cx="846534" cy="353020"/>
          </a:xfrm>
          <a:prstGeom prst="roundRect">
            <a:avLst>
              <a:gd name="adj" fmla="val 50000"/>
            </a:avLst>
          </a:prstGeom>
          <a:solidFill>
            <a:srgbClr val="0B4F4B"/>
          </a:solidFill>
          <a:ln w="12700">
            <a:solidFill>
              <a:srgbClr val="2C7F7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PGM</a:t>
            </a:r>
            <a:endParaRPr lang="en-US" sz="1200" dirty="0"/>
          </a:p>
        </p:txBody>
      </p:sp>
      <p:pic>
        <p:nvPicPr>
          <p:cNvPr id="8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06878" y="1511635"/>
            <a:ext cx="203200" cy="1397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718028" y="1405006"/>
            <a:ext cx="1171178" cy="353020"/>
          </a:xfrm>
          <a:prstGeom prst="roundRect">
            <a:avLst>
              <a:gd name="adj" fmla="val 50000"/>
            </a:avLst>
          </a:prstGeom>
          <a:solidFill>
            <a:srgbClr val="0B4F4B"/>
          </a:solidFill>
          <a:ln w="12700">
            <a:solidFill>
              <a:srgbClr val="2C7F7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ALEX-lite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798195" y="1954876"/>
            <a:ext cx="1059561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kern="0" spc="250" dirty="0">
                <a:solidFill>
                  <a:srgbClr val="F9E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SECTION</a:t>
            </a:r>
            <a:endParaRPr lang="en-US" sz="1400" dirty="0"/>
          </a:p>
        </p:txBody>
      </p:sp>
      <p:sp>
        <p:nvSpPr>
          <p:cNvPr id="11" name="Text 5"/>
          <p:cNvSpPr>
            <a:spLocks noGrp="1"/>
          </p:cNvSpPr>
          <p:nvPr>
            <p:ph type="title"/>
          </p:nvPr>
        </p:nvSpPr>
        <p:spPr>
          <a:xfrm>
            <a:off x="798195" y="2394285"/>
            <a:ext cx="10595610" cy="668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060"/>
              </a:lnSpc>
              <a:buNone/>
            </a:pPr>
            <a:r>
              <a:rPr lang="en-US" sz="4600" b="1" i="0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Methodology</a:t>
            </a:r>
            <a:endParaRPr lang="en-US" sz="4600" dirty="0"/>
          </a:p>
        </p:txBody>
      </p:sp>
      <p:sp>
        <p:nvSpPr>
          <p:cNvPr id="12" name="Text 6"/>
          <p:cNvSpPr/>
          <p:nvPr/>
        </p:nvSpPr>
        <p:spPr>
          <a:xfrm>
            <a:off x="798195" y="3227388"/>
            <a:ext cx="10595610" cy="316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sz="1700" dirty="0">
                <a:solidFill>
                  <a:srgbClr val="F4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these indexing approaches were implemented and evaluated</a:t>
            </a:r>
            <a:endParaRPr lang="en-US" sz="1700" dirty="0"/>
          </a:p>
        </p:txBody>
      </p:sp>
      <p:sp>
        <p:nvSpPr>
          <p:cNvPr id="13" name="Shape 7"/>
          <p:cNvSpPr/>
          <p:nvPr/>
        </p:nvSpPr>
        <p:spPr>
          <a:xfrm>
            <a:off x="952500" y="3709330"/>
            <a:ext cx="2438400" cy="1610254"/>
          </a:xfrm>
          <a:prstGeom prst="roundRect">
            <a:avLst>
              <a:gd name="adj" fmla="val 9464"/>
            </a:avLst>
          </a:prstGeom>
          <a:solidFill>
            <a:srgbClr val="D8F0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/>
          <p:nvPr/>
        </p:nvSpPr>
        <p:spPr>
          <a:xfrm>
            <a:off x="1130300" y="388713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130300" y="4382430"/>
            <a:ext cx="2145284" cy="259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130300" y="4704953"/>
            <a:ext cx="2145284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1B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end-to-end benchmarking workflow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568700" y="3709330"/>
            <a:ext cx="2438400" cy="1610254"/>
          </a:xfrm>
          <a:prstGeom prst="roundRect">
            <a:avLst>
              <a:gd name="adj" fmla="val 9464"/>
            </a:avLst>
          </a:prstGeom>
          <a:solidFill>
            <a:srgbClr val="DCE9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3746500" y="388713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746500" y="4382430"/>
            <a:ext cx="2145284" cy="259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Structures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3746500" y="4704953"/>
            <a:ext cx="2145284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1B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Tree, RMI, PGM and ALEX-lite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184900" y="3709330"/>
            <a:ext cx="2438400" cy="1610254"/>
          </a:xfrm>
          <a:prstGeom prst="roundRect">
            <a:avLst>
              <a:gd name="adj" fmla="val 9464"/>
            </a:avLst>
          </a:prstGeom>
          <a:solidFill>
            <a:srgbClr val="F9E0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6362700" y="388713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62700" y="4382430"/>
            <a:ext cx="2145284" cy="259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Setup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362700" y="4704953"/>
            <a:ext cx="2145284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1B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distributions and workload settings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801100" y="3709330"/>
            <a:ext cx="2438400" cy="1610254"/>
          </a:xfrm>
          <a:prstGeom prst="roundRect">
            <a:avLst>
              <a:gd name="adj" fmla="val 9464"/>
            </a:avLst>
          </a:prstGeom>
          <a:solidFill>
            <a:srgbClr val="D8F0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8978900" y="388713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978900" y="4382430"/>
            <a:ext cx="2260600" cy="259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Dashboard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978900" y="4704953"/>
            <a:ext cx="2145284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1B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measured and how results are shown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10CA6-1B30-AFB7-430C-57280BC8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6" y="524933"/>
            <a:ext cx="6702869" cy="123613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Lookup Latency:</a:t>
            </a:r>
            <a:b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 Universal Winner</a:t>
            </a:r>
            <a:endParaRPr lang="en-IN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1952E50E-9BFB-CF06-2E4B-5FB74E939B70}"/>
              </a:ext>
            </a:extLst>
          </p:cNvPr>
          <p:cNvGraphicFramePr>
            <a:graphicFrameLocks noGrp="1"/>
          </p:cNvGraphicFramePr>
          <p:nvPr>
            <p:ph type="tbl" sz="quarter" idx="11"/>
          </p:nvPr>
        </p:nvGraphicFramePr>
        <p:xfrm>
          <a:off x="592667" y="2015612"/>
          <a:ext cx="6366935" cy="299883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273387">
                  <a:extLst>
                    <a:ext uri="{9D8B030D-6E8A-4147-A177-3AD203B41FA5}">
                      <a16:colId xmlns:a16="http://schemas.microsoft.com/office/drawing/2014/main" val="3886475218"/>
                    </a:ext>
                  </a:extLst>
                </a:gridCol>
                <a:gridCol w="1273387">
                  <a:extLst>
                    <a:ext uri="{9D8B030D-6E8A-4147-A177-3AD203B41FA5}">
                      <a16:colId xmlns:a16="http://schemas.microsoft.com/office/drawing/2014/main" val="1462867892"/>
                    </a:ext>
                  </a:extLst>
                </a:gridCol>
                <a:gridCol w="1273387">
                  <a:extLst>
                    <a:ext uri="{9D8B030D-6E8A-4147-A177-3AD203B41FA5}">
                      <a16:colId xmlns:a16="http://schemas.microsoft.com/office/drawing/2014/main" val="3479243042"/>
                    </a:ext>
                  </a:extLst>
                </a:gridCol>
                <a:gridCol w="1273387">
                  <a:extLst>
                    <a:ext uri="{9D8B030D-6E8A-4147-A177-3AD203B41FA5}">
                      <a16:colId xmlns:a16="http://schemas.microsoft.com/office/drawing/2014/main" val="539925662"/>
                    </a:ext>
                  </a:extLst>
                </a:gridCol>
                <a:gridCol w="1273387">
                  <a:extLst>
                    <a:ext uri="{9D8B030D-6E8A-4147-A177-3AD203B41FA5}">
                      <a16:colId xmlns:a16="http://schemas.microsoft.com/office/drawing/2014/main" val="3711745996"/>
                    </a:ext>
                  </a:extLst>
                </a:gridCol>
              </a:tblGrid>
              <a:tr h="478982">
                <a:tc>
                  <a:txBody>
                    <a:bodyPr/>
                    <a:lstStyle/>
                    <a:p>
                      <a:r>
                        <a:rPr lang="en-US" sz="1200" dirty="0"/>
                        <a:t>Dataset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B+ Tree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RMI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PGM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ALEX-lite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543040"/>
                  </a:ext>
                </a:extLst>
              </a:tr>
              <a:tr h="600256">
                <a:tc>
                  <a:txBody>
                    <a:bodyPr/>
                    <a:lstStyle/>
                    <a:p>
                      <a:r>
                        <a:rPr lang="en-US" sz="1200" dirty="0"/>
                        <a:t>Clustered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810 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2333 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2843 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3472 ns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33934"/>
                  </a:ext>
                </a:extLst>
              </a:tr>
              <a:tr h="600256">
                <a:tc>
                  <a:txBody>
                    <a:bodyPr/>
                    <a:lstStyle/>
                    <a:p>
                      <a:r>
                        <a:rPr lang="en-US" sz="1200" dirty="0"/>
                        <a:t>Lognormal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1112 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2150 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2733 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3778 ns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454017"/>
                  </a:ext>
                </a:extLst>
              </a:tr>
              <a:tr h="840362">
                <a:tc>
                  <a:txBody>
                    <a:bodyPr/>
                    <a:lstStyle/>
                    <a:p>
                      <a:r>
                        <a:rPr lang="en-US" sz="1200" dirty="0"/>
                        <a:t>Sequential</a:t>
                      </a:r>
                    </a:p>
                    <a:p>
                      <a:r>
                        <a:rPr lang="en-US" sz="1200" dirty="0"/>
                        <a:t>Noise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755 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2181 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2726 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4051 ns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915787"/>
                  </a:ext>
                </a:extLst>
              </a:tr>
              <a:tr h="478982">
                <a:tc>
                  <a:txBody>
                    <a:bodyPr/>
                    <a:lstStyle/>
                    <a:p>
                      <a:r>
                        <a:rPr lang="en-US" sz="1200" dirty="0"/>
                        <a:t>Uniform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1224 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2725 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3304 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3710 ns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062970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71819-1F4B-4A0D-628D-8569AF371A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39664" y="845574"/>
            <a:ext cx="4331109" cy="5643715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en-IN" sz="5600" dirty="0"/>
              <a:t>Mean lookup latency (ns) on 4 datasets, N = 200,000 keys</a:t>
            </a:r>
          </a:p>
          <a:p>
            <a:pPr marL="0" lvl="0" indent="0">
              <a:buNone/>
            </a:pPr>
            <a:endParaRPr lang="en-IN" sz="5600" dirty="0"/>
          </a:p>
          <a:p>
            <a:pPr lvl="0"/>
            <a:r>
              <a:rPr lang="en-IN" sz="5600" dirty="0"/>
              <a:t>Compared B+ Tree, RMI (M=1000), PGM (ε=64) and ALEX-lite</a:t>
            </a:r>
          </a:p>
          <a:p>
            <a:pPr marL="0" lvl="0" indent="0">
              <a:buNone/>
            </a:pPr>
            <a:endParaRPr lang="en-IN" sz="5600" dirty="0"/>
          </a:p>
          <a:p>
            <a:pPr lvl="0"/>
            <a:r>
              <a:rPr lang="en-IN" sz="5600" dirty="0"/>
              <a:t>The B+ Tree had the lowest latency on every dataset.</a:t>
            </a:r>
          </a:p>
          <a:p>
            <a:pPr marL="0" lvl="0" indent="0">
              <a:buNone/>
            </a:pPr>
            <a:endParaRPr lang="en-IN" sz="5600" dirty="0"/>
          </a:p>
          <a:p>
            <a:pPr lvl="0"/>
            <a:r>
              <a:rPr lang="en-IN" sz="5600" dirty="0"/>
              <a:t>RMI was the fastest learned index on every dataset.</a:t>
            </a:r>
          </a:p>
          <a:p>
            <a:pPr marL="0" lvl="0" indent="0">
              <a:buNone/>
            </a:pPr>
            <a:endParaRPr lang="en-IN" sz="5600" dirty="0"/>
          </a:p>
          <a:p>
            <a:pPr lvl="0"/>
            <a:r>
              <a:rPr lang="en-IN" sz="5600" dirty="0"/>
              <a:t>PGM was second among the learned indexes, and ALEX-lite was slowest.</a:t>
            </a:r>
          </a:p>
          <a:p>
            <a:pPr marL="0" lvl="0" indent="0">
              <a:buNone/>
            </a:pPr>
            <a:endParaRPr lang="en-IN" sz="5600" dirty="0"/>
          </a:p>
          <a:p>
            <a:pPr lvl="0"/>
            <a:r>
              <a:rPr lang="en-IN" sz="5600" dirty="0"/>
              <a:t>Learned indexes were closest to the B+ Tree on smooth data (Uniform, Sequential Noise).</a:t>
            </a:r>
          </a:p>
          <a:p>
            <a:pPr marL="0" lvl="0" indent="0">
              <a:buNone/>
            </a:pPr>
            <a:endParaRPr lang="en-IN" sz="5600" dirty="0"/>
          </a:p>
          <a:p>
            <a:pPr lvl="0"/>
            <a:r>
              <a:rPr lang="en-IN" sz="5600" dirty="0"/>
              <a:t>On skewed and clustered data, larger model error forces wider search windows.</a:t>
            </a:r>
          </a:p>
          <a:p>
            <a:pPr lvl="0" algn="r"/>
            <a:endParaRPr lang="en-IN" sz="5600" dirty="0"/>
          </a:p>
          <a:p>
            <a:pPr lvl="0"/>
            <a:endParaRPr lang="en-IN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0462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AF5B-B9D2-EF17-627A-FE34FBDFB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414" y="560438"/>
            <a:ext cx="6341805" cy="1209368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Memory Footprint: 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Measure Consistently</a:t>
            </a:r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7DB60547-EF28-9578-433C-0669C3573053}"/>
              </a:ext>
            </a:extLst>
          </p:cNvPr>
          <p:cNvGraphicFramePr>
            <a:graphicFrameLocks noGrp="1"/>
          </p:cNvGraphicFramePr>
          <p:nvPr>
            <p:ph type="tbl" sz="quarter" idx="11"/>
          </p:nvPr>
        </p:nvGraphicFramePr>
        <p:xfrm>
          <a:off x="7767484" y="2330245"/>
          <a:ext cx="4168877" cy="3844351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814111">
                  <a:extLst>
                    <a:ext uri="{9D8B030D-6E8A-4147-A177-3AD203B41FA5}">
                      <a16:colId xmlns:a16="http://schemas.microsoft.com/office/drawing/2014/main" val="1709211694"/>
                    </a:ext>
                  </a:extLst>
                </a:gridCol>
                <a:gridCol w="833775">
                  <a:extLst>
                    <a:ext uri="{9D8B030D-6E8A-4147-A177-3AD203B41FA5}">
                      <a16:colId xmlns:a16="http://schemas.microsoft.com/office/drawing/2014/main" val="1944501311"/>
                    </a:ext>
                  </a:extLst>
                </a:gridCol>
                <a:gridCol w="833775">
                  <a:extLst>
                    <a:ext uri="{9D8B030D-6E8A-4147-A177-3AD203B41FA5}">
                      <a16:colId xmlns:a16="http://schemas.microsoft.com/office/drawing/2014/main" val="3506830939"/>
                    </a:ext>
                  </a:extLst>
                </a:gridCol>
                <a:gridCol w="833775">
                  <a:extLst>
                    <a:ext uri="{9D8B030D-6E8A-4147-A177-3AD203B41FA5}">
                      <a16:colId xmlns:a16="http://schemas.microsoft.com/office/drawing/2014/main" val="2416911029"/>
                    </a:ext>
                  </a:extLst>
                </a:gridCol>
                <a:gridCol w="853441">
                  <a:extLst>
                    <a:ext uri="{9D8B030D-6E8A-4147-A177-3AD203B41FA5}">
                      <a16:colId xmlns:a16="http://schemas.microsoft.com/office/drawing/2014/main" val="4259202239"/>
                    </a:ext>
                  </a:extLst>
                </a:gridCol>
              </a:tblGrid>
              <a:tr h="766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B+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ALEX-lite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600968"/>
                  </a:ext>
                </a:extLst>
              </a:tr>
              <a:tr h="766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Clustered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0.1 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32.2 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2.3 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1074.2 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138765"/>
                  </a:ext>
                </a:extLst>
              </a:tr>
              <a:tr h="766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Lognormal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0.1 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32.2 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0.7 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1074.2 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006425"/>
                  </a:ext>
                </a:extLst>
              </a:tr>
              <a:tr h="766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Sequential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0.1 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32.2 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0.0 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1074.2 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948076"/>
                  </a:ext>
                </a:extLst>
              </a:tr>
              <a:tr h="776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Uniform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0.1 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32.2 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0.4 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1074.2 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361008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57C8E-F285-7002-FAD3-87157FA3B2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6414" y="1995948"/>
            <a:ext cx="6027174" cy="4168725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Clr>
                <a:srgbClr val="F9E0B9"/>
              </a:buClr>
              <a:buNone/>
            </a:pPr>
            <a:r>
              <a:rPr lang="en-IN" sz="1900" b="1" dirty="0">
                <a:solidFill>
                  <a:schemeClr val="tx1"/>
                </a:solidFill>
              </a:rPr>
              <a:t>B+ Tree:</a:t>
            </a:r>
            <a:r>
              <a:rPr lang="en-IN" sz="1900" dirty="0">
                <a:solidFill>
                  <a:schemeClr val="tx1"/>
                </a:solidFill>
              </a:rPr>
              <a:t> </a:t>
            </a:r>
            <a:r>
              <a:rPr lang="en-IN" sz="1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internal nodes hold keys and child pointers, and leaf pages hold data pointers, so memory grows with the number of keys.</a:t>
            </a:r>
          </a:p>
          <a:p>
            <a:pPr marL="0" lvl="0" indent="0">
              <a:buClr>
                <a:srgbClr val="F9E0B9"/>
              </a:buClr>
              <a:buNone/>
            </a:pPr>
            <a:endParaRPr lang="en-IN" sz="1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lvl="0" indent="0">
              <a:buClr>
                <a:srgbClr val="F9E0B9"/>
              </a:buClr>
              <a:buNone/>
            </a:pPr>
            <a:endParaRPr lang="en-IN" sz="1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lvl="0" indent="0">
              <a:buClr>
                <a:srgbClr val="F9E0B9"/>
              </a:buClr>
              <a:buNone/>
            </a:pPr>
            <a:r>
              <a:rPr lang="en-IN" sz="1900" b="1" dirty="0">
                <a:solidFill>
                  <a:schemeClr val="tx1"/>
                </a:solidFill>
              </a:rPr>
              <a:t>Learned indexes:</a:t>
            </a:r>
            <a:r>
              <a:rPr lang="en-IN" sz="1900" dirty="0">
                <a:solidFill>
                  <a:schemeClr val="tx1"/>
                </a:solidFill>
              </a:rPr>
              <a:t> </a:t>
            </a:r>
            <a:r>
              <a:rPr lang="en-IN" sz="1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store model parameters instead of pointers. </a:t>
            </a:r>
          </a:p>
          <a:p>
            <a:pPr lvl="1">
              <a:buClr>
                <a:srgbClr val="F9E0B9"/>
              </a:buClr>
            </a:pPr>
            <a:r>
              <a:rPr lang="en-IN" sz="1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RMI: slope, intercept and min/max error per model, plus a delta buffer.</a:t>
            </a:r>
          </a:p>
          <a:p>
            <a:pPr lvl="1">
              <a:buClr>
                <a:srgbClr val="F9E0B9"/>
              </a:buClr>
            </a:pPr>
            <a:r>
              <a:rPr lang="en-IN" sz="1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PGM: key, position and slope per segment, plus a delta buffer.</a:t>
            </a:r>
          </a:p>
          <a:p>
            <a:pPr lvl="1">
              <a:buClr>
                <a:srgbClr val="F9E0B9"/>
              </a:buClr>
            </a:pPr>
            <a:r>
              <a:rPr lang="en-IN" sz="1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ALEX-lite: empty gap slots, an occupancy mask and model parameters.</a:t>
            </a:r>
          </a:p>
          <a:p>
            <a:pPr marL="457200" lvl="1" indent="0">
              <a:buClr>
                <a:srgbClr val="F9E0B9"/>
              </a:buClr>
              <a:buNone/>
            </a:pPr>
            <a:endParaRPr lang="en-IN" sz="1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lvl="0" indent="0">
              <a:buClr>
                <a:srgbClr val="F9E0B9"/>
              </a:buClr>
              <a:buNone/>
            </a:pPr>
            <a:r>
              <a:rPr lang="en-IN" sz="1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Model size, accuracy and correction work trade off. More models or segments mean a smaller error window but more metadata. Fewer models mean a compact index but a wider search.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9722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92A3C-F81D-5109-908B-F0446C8C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550606"/>
            <a:ext cx="3990110" cy="5383055"/>
          </a:xfrm>
        </p:spPr>
        <p:txBody>
          <a:bodyPr/>
          <a:lstStyle/>
          <a:p>
            <a:pPr algn="l"/>
            <a:r>
              <a:rPr lang="en-IN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the measurement includes:</a:t>
            </a:r>
            <a:br>
              <a:rPr lang="en-IN" sz="1200" dirty="0"/>
            </a:br>
            <a:r>
              <a:rPr lang="en-IN" sz="1200" dirty="0"/>
              <a:t>Learned indexes: analytical estimate of model metadata and buffers.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B+ Tree: </a:t>
            </a:r>
            <a:r>
              <a:rPr lang="en-IN" sz="1200" dirty="0" err="1"/>
              <a:t>pympler.asizeof</a:t>
            </a:r>
            <a:r>
              <a:rPr lang="en-IN" sz="1200" dirty="0"/>
              <a:t> on </a:t>
            </a:r>
            <a:r>
              <a:rPr lang="en-IN" sz="1200" dirty="0" err="1"/>
              <a:t>OOBTree</a:t>
            </a:r>
            <a:r>
              <a:rPr lang="en-IN" sz="1200" dirty="0"/>
              <a:t> (a Python C-extension).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The two methods do not cover the same components. The B+ Tree figure is likely an undercount, so don’t treat it as the full cost.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Interpretation:</a:t>
            </a:r>
            <a:br>
              <a:rPr lang="en-IN" sz="1200" dirty="0"/>
            </a:br>
            <a:r>
              <a:rPr lang="en-IN" sz="1200" dirty="0"/>
              <a:t>PGM’s footprint shrinks as the data gets smoother (0.0 KB on Sequential Noise vs 2.3 KB on Clustered).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RMI stays constant at 32.2 KB because it has a fixed number of models.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ALEX-lite is the largest because it deliberately keeps empty slots for inserts.</a:t>
            </a:r>
            <a:br>
              <a:rPr lang="en-IN" sz="1400" dirty="0"/>
            </a:br>
            <a:br>
              <a:rPr lang="en-IN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IN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Key takeaway:</a:t>
            </a:r>
            <a:br>
              <a:rPr lang="en-IN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IN" sz="1200" dirty="0"/>
              <a:t>Learned indexes can reduce index metadata, but fair memory comparisons require consistent measurement boundaries.</a:t>
            </a:r>
            <a:br>
              <a:rPr lang="en-IN" sz="1400" dirty="0"/>
            </a:br>
            <a:endParaRPr lang="en-IN" sz="1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251833-8DEF-58B9-226E-400996722D1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974771" y="1088572"/>
            <a:ext cx="6368143" cy="429985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7011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8041F-C8F0-215F-35AF-8012383C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Beyond Lookups: Writes, Mixed Workloads and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D7AD1-C650-3CE7-82DD-D77A9B47B6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29935" y="2115812"/>
            <a:ext cx="3540620" cy="4066780"/>
          </a:xfrm>
        </p:spPr>
        <p:txBody>
          <a:bodyPr>
            <a:normAutofit/>
          </a:bodyPr>
          <a:lstStyle/>
          <a:p>
            <a:pPr lvl="0"/>
            <a:r>
              <a:rPr lang="en-IN" sz="1400" b="1" dirty="0"/>
              <a:t>Inserts:</a:t>
            </a:r>
            <a:r>
              <a:rPr lang="en-IN" sz="1400" dirty="0"/>
              <a:t> </a:t>
            </a:r>
            <a:r>
              <a:rPr lang="en-IN" sz="1200" dirty="0"/>
              <a:t>B+ Tree is highest on all 4 datasets. RMI and PGM pay for retraining.</a:t>
            </a:r>
          </a:p>
          <a:p>
            <a:pPr lvl="0"/>
            <a:r>
              <a:rPr lang="en-IN" sz="1400" b="1" dirty="0"/>
              <a:t>Mixed workloads</a:t>
            </a:r>
            <a:r>
              <a:rPr lang="en-IN" sz="1200" b="1" dirty="0"/>
              <a:t>:</a:t>
            </a:r>
            <a:r>
              <a:rPr lang="en-IN" sz="1200" dirty="0"/>
              <a:t> learned indexes do well on reads, but throughput drops as writes rise.</a:t>
            </a:r>
          </a:p>
          <a:p>
            <a:pPr lvl="0"/>
            <a:r>
              <a:rPr lang="en-IN" sz="1400" b="1" dirty="0" err="1"/>
              <a:t>Sensitivity</a:t>
            </a:r>
            <a:r>
              <a:rPr lang="en-IN" sz="1100" b="1" dirty="0" err="1"/>
              <a:t>:</a:t>
            </a:r>
            <a:r>
              <a:rPr lang="en-IN" sz="1200" dirty="0" err="1"/>
              <a:t>more</a:t>
            </a:r>
            <a:r>
              <a:rPr lang="en-IN" sz="1200" dirty="0"/>
              <a:t> RMI models → more memory.  Larger PGM ε → fewer segments, wider search.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5569A1-3D7C-8B27-FD1A-1C1D8DC7D16C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4876800" y="2137933"/>
            <a:ext cx="6577013" cy="4023584"/>
          </a:xfrm>
          <a:prstGeom prst="rect">
            <a:avLst/>
          </a:prstGeom>
          <a:effectLst/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D26B20-437F-FD76-E4A8-39C38E4D5EE5}"/>
              </a:ext>
            </a:extLst>
          </p:cNvPr>
          <p:cNvGraphicFramePr>
            <a:graphicFrameLocks noGrp="1"/>
          </p:cNvGraphicFramePr>
          <p:nvPr/>
        </p:nvGraphicFramePr>
        <p:xfrm>
          <a:off x="529934" y="5132387"/>
          <a:ext cx="3540619" cy="1029130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797419">
                  <a:extLst>
                    <a:ext uri="{9D8B030D-6E8A-4147-A177-3AD203B41FA5}">
                      <a16:colId xmlns:a16="http://schemas.microsoft.com/office/drawing/2014/main" val="3687425533"/>
                    </a:ext>
                  </a:extLst>
                </a:gridCol>
                <a:gridCol w="816077">
                  <a:extLst>
                    <a:ext uri="{9D8B030D-6E8A-4147-A177-3AD203B41FA5}">
                      <a16:colId xmlns:a16="http://schemas.microsoft.com/office/drawing/2014/main" val="1923953588"/>
                    </a:ext>
                  </a:extLst>
                </a:gridCol>
                <a:gridCol w="875071">
                  <a:extLst>
                    <a:ext uri="{9D8B030D-6E8A-4147-A177-3AD203B41FA5}">
                      <a16:colId xmlns:a16="http://schemas.microsoft.com/office/drawing/2014/main" val="921150121"/>
                    </a:ext>
                  </a:extLst>
                </a:gridCol>
                <a:gridCol w="1052052">
                  <a:extLst>
                    <a:ext uri="{9D8B030D-6E8A-4147-A177-3AD203B41FA5}">
                      <a16:colId xmlns:a16="http://schemas.microsoft.com/office/drawing/2014/main" val="475753732"/>
                    </a:ext>
                  </a:extLst>
                </a:gridCol>
              </a:tblGrid>
              <a:tr h="514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FFFFFF"/>
                          </a:solidFill>
                        </a:rPr>
                        <a:t>B+ Tree</a:t>
                      </a:r>
                    </a:p>
                  </a:txBody>
                  <a:tcPr anchor="ctr">
                    <a:solidFill>
                      <a:srgbClr val="006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FFFFFF"/>
                          </a:solidFill>
                        </a:rPr>
                        <a:t>RMI</a:t>
                      </a:r>
                    </a:p>
                  </a:txBody>
                  <a:tcPr anchor="ctr">
                    <a:solidFill>
                      <a:srgbClr val="006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FFFFF"/>
                          </a:solidFill>
                        </a:rPr>
                        <a:t>PGM</a:t>
                      </a:r>
                    </a:p>
                  </a:txBody>
                  <a:tcPr anchor="ctr">
                    <a:solidFill>
                      <a:srgbClr val="006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FFFFFF"/>
                          </a:solidFill>
                        </a:rPr>
                        <a:t>ALEX-lite</a:t>
                      </a:r>
                    </a:p>
                  </a:txBody>
                  <a:tcPr anchor="ctr">
                    <a:solidFill>
                      <a:srgbClr val="006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112970"/>
                  </a:ext>
                </a:extLst>
              </a:tr>
              <a:tr h="514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840,068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116,370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47,196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209,038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960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871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ABA7-1810-C6ED-DB43-21A8B0F8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Future Scope</a:t>
            </a:r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F1ECA1FE-C3E4-9433-D4E5-F2E42C02D9B3}"/>
              </a:ext>
            </a:extLst>
          </p:cNvPr>
          <p:cNvGraphicFramePr>
            <a:graphicFrameLocks noGrp="1"/>
          </p:cNvGraphicFramePr>
          <p:nvPr>
            <p:ph type="tbl" sz="quarter" idx="10"/>
          </p:nvPr>
        </p:nvGraphicFramePr>
        <p:xfrm>
          <a:off x="814388" y="4673598"/>
          <a:ext cx="10563224" cy="1126308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2640806">
                  <a:extLst>
                    <a:ext uri="{9D8B030D-6E8A-4147-A177-3AD203B41FA5}">
                      <a16:colId xmlns:a16="http://schemas.microsoft.com/office/drawing/2014/main" val="623003851"/>
                    </a:ext>
                  </a:extLst>
                </a:gridCol>
                <a:gridCol w="2640806">
                  <a:extLst>
                    <a:ext uri="{9D8B030D-6E8A-4147-A177-3AD203B41FA5}">
                      <a16:colId xmlns:a16="http://schemas.microsoft.com/office/drawing/2014/main" val="3147045359"/>
                    </a:ext>
                  </a:extLst>
                </a:gridCol>
                <a:gridCol w="2640806">
                  <a:extLst>
                    <a:ext uri="{9D8B030D-6E8A-4147-A177-3AD203B41FA5}">
                      <a16:colId xmlns:a16="http://schemas.microsoft.com/office/drawing/2014/main" val="2046580176"/>
                    </a:ext>
                  </a:extLst>
                </a:gridCol>
                <a:gridCol w="2640806">
                  <a:extLst>
                    <a:ext uri="{9D8B030D-6E8A-4147-A177-3AD203B41FA5}">
                      <a16:colId xmlns:a16="http://schemas.microsoft.com/office/drawing/2014/main" val="2970523950"/>
                    </a:ext>
                  </a:extLst>
                </a:gridCol>
              </a:tblGrid>
              <a:tr h="31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B+ Tree</a:t>
                      </a:r>
                    </a:p>
                  </a:txBody>
                  <a:tcPr anchor="ctr">
                    <a:solidFill>
                      <a:srgbClr val="F9E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RMI</a:t>
                      </a:r>
                    </a:p>
                  </a:txBody>
                  <a:tcPr anchor="ctr">
                    <a:solidFill>
                      <a:srgbClr val="F9E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PGM</a:t>
                      </a:r>
                    </a:p>
                  </a:txBody>
                  <a:tcPr anchor="ctr">
                    <a:solidFill>
                      <a:srgbClr val="F9E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ALEX-lite</a:t>
                      </a:r>
                    </a:p>
                  </a:txBody>
                  <a:tcPr anchor="ctr">
                    <a:solidFill>
                      <a:srgbClr val="F9E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42858"/>
                  </a:ext>
                </a:extLst>
              </a:tr>
              <a:tr h="791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Fastest lookups and inserts here; larger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Compact (32.2 KB); best for read-only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Most compact on smooth data; slowest inserts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Supports inserts; largest footprint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4509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44CFC6B-D2CD-4307-5930-99CB8DDC04E9}"/>
              </a:ext>
            </a:extLst>
          </p:cNvPr>
          <p:cNvSpPr txBox="1"/>
          <p:nvPr/>
        </p:nvSpPr>
        <p:spPr>
          <a:xfrm>
            <a:off x="814388" y="1987921"/>
            <a:ext cx="10563224" cy="2585323"/>
          </a:xfrm>
          <a:prstGeom prst="rect">
            <a:avLst/>
          </a:prstGeom>
          <a:solidFill>
            <a:srgbClr val="F9E0B9"/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>
                <a:solidFill>
                  <a:srgbClr val="00625C"/>
                </a:solidFill>
              </a:rPr>
              <a:t>Conclusion</a:t>
            </a:r>
            <a:endParaRPr lang="en-IN" dirty="0">
              <a:solidFill>
                <a:srgbClr val="00625C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625C"/>
                </a:solidFill>
              </a:rPr>
              <a:t>Each index trades off lookup speed, memory and update cost.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625C"/>
                </a:solidFill>
              </a:rPr>
              <a:t>The best choice depends on the data and workload.</a:t>
            </a:r>
          </a:p>
          <a:p>
            <a:pPr rtl="0">
              <a:buNone/>
            </a:pPr>
            <a:r>
              <a:rPr lang="en-IN" b="1" dirty="0">
                <a:solidFill>
                  <a:srgbClr val="00625C"/>
                </a:solidFill>
              </a:rPr>
              <a:t>Limitations:</a:t>
            </a:r>
            <a:r>
              <a:rPr lang="en-IN" dirty="0">
                <a:solidFill>
                  <a:srgbClr val="00625C"/>
                </a:solidFill>
              </a:rPr>
              <a:t> Python implementations; B+ Tree memory measured differently; not production proof.</a:t>
            </a:r>
          </a:p>
          <a:p>
            <a:pPr rtl="0">
              <a:buNone/>
            </a:pPr>
            <a:r>
              <a:rPr lang="en-IN" b="1" dirty="0">
                <a:solidFill>
                  <a:srgbClr val="00625C"/>
                </a:solidFill>
              </a:rPr>
              <a:t>Future scope:</a:t>
            </a:r>
            <a:r>
              <a:rPr lang="en-IN" dirty="0">
                <a:solidFill>
                  <a:srgbClr val="00625C"/>
                </a:solidFill>
              </a:rPr>
              <a:t> Larger datasets, C++ implementations, consistent memory measurement, concurrency and real database integration.</a:t>
            </a:r>
          </a:p>
          <a:p>
            <a:pPr rtl="0">
              <a:buNone/>
            </a:pPr>
            <a:r>
              <a:rPr lang="en-IN" b="1" dirty="0">
                <a:solidFill>
                  <a:srgbClr val="00625C"/>
                </a:solidFill>
              </a:rPr>
              <a:t>Banner:</a:t>
            </a:r>
            <a:r>
              <a:rPr lang="en-IN" dirty="0">
                <a:solidFill>
                  <a:srgbClr val="00625C"/>
                </a:solidFill>
              </a:rPr>
              <a:t> Learned indexes are promising alternatives, but their benefits depend on the data, workload and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787677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225491"/>
            <a:ext cx="10650681" cy="1540042"/>
          </a:xfrm>
        </p:spPr>
        <p:txBody>
          <a:bodyPr/>
          <a:lstStyle/>
          <a:p>
            <a:r>
              <a:rPr lang="en-IN" dirty="0"/>
              <a:t>Team member 1: DHAYAPULE KARTIKESH RAO (24BCE0241)</a:t>
            </a:r>
          </a:p>
          <a:p>
            <a:r>
              <a:rPr lang="en-IN" dirty="0"/>
              <a:t>Team member 2: </a:t>
            </a:r>
            <a:r>
              <a:rPr lang="fi-FI" dirty="0"/>
              <a:t>METTA VENKATA SURYA SAI SRIKAR (24BCE0310)</a:t>
            </a:r>
            <a:endParaRPr lang="en-IN" dirty="0"/>
          </a:p>
          <a:p>
            <a:r>
              <a:rPr lang="en-IN" dirty="0"/>
              <a:t>Team member 3: MAYUR R KENI (24BCE0686)</a:t>
            </a:r>
          </a:p>
          <a:p>
            <a:r>
              <a:rPr lang="en-IN" dirty="0"/>
              <a:t>Team member 4: VENKATARAMANA AKSHITH (24BCE2482)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Liquid void presentation</Template>
  <TotalTime>350</TotalTime>
  <Words>1673</Words>
  <Application>Microsoft Office PowerPoint</Application>
  <PresentationFormat>Widescreen</PresentationFormat>
  <Paragraphs>309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Calibri</vt:lpstr>
      <vt:lpstr>Cambria Math</vt:lpstr>
      <vt:lpstr>Century Gothic</vt:lpstr>
      <vt:lpstr>Inter</vt:lpstr>
      <vt:lpstr>Wingdings 2</vt:lpstr>
      <vt:lpstr>Quotable</vt:lpstr>
      <vt:lpstr>Evaluating Learned Index Structures vs. Traditional B+ Trees</vt:lpstr>
      <vt:lpstr>Why Rethink Database Indexing?</vt:lpstr>
      <vt:lpstr>PowerPoint Presentation</vt:lpstr>
      <vt:lpstr>Limitations of Traditional Indexing</vt:lpstr>
      <vt:lpstr>PowerPoint Presentation</vt:lpstr>
      <vt:lpstr>What Is a Learned Index?</vt:lpstr>
      <vt:lpstr>Recursive Model Index (RMI)</vt:lpstr>
      <vt:lpstr>Piecewise Geometric Model Index (PGM)</vt:lpstr>
      <vt:lpstr>ALEX-lite — Adaptive Learned Index</vt:lpstr>
      <vt:lpstr>METHODOLOGY WORKFLOW Project Architecture  </vt:lpstr>
      <vt:lpstr>PowerPoint Presentation</vt:lpstr>
      <vt:lpstr>PowerPoint Presentation</vt:lpstr>
      <vt:lpstr>PowerPoint Presentation</vt:lpstr>
      <vt:lpstr>Indexing Approaches at a Glance</vt:lpstr>
      <vt:lpstr>Implementation &amp; Methodology</vt:lpstr>
      <vt:lpstr>Lookup Latency:   NO Universal Winner</vt:lpstr>
      <vt:lpstr>Memory Footprint:  Measure Consistently</vt:lpstr>
      <vt:lpstr>What the measurement includes: Learned indexes: analytical estimate of model metadata and buffers.  B+ Tree: pympler.asizeof on OOBTree (a Python C-extension).  The two methods do not cover the same components. The B+ Tree figure is likely an undercount, so don’t treat it as the full cost.  Interpretation: PGM’s footprint shrinks as the data gets smoother (0.0 KB on Sequential Noise vs 2.3 KB on Clustered).  RMI stays constant at 32.2 KB because it has a fixed number of models.  ALEX-lite is the largest because it deliberately keeps empty slots for inserts.  Key takeaway: Learned indexes can reduce index metadata, but fair memory comparisons require consistent measurement boundaries. </vt:lpstr>
      <vt:lpstr>Beyond Lookups: Writes, Mixed Workloads and Tuning</vt:lpstr>
      <vt:lpstr>Conclusion and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Rao</dc:creator>
  <cp:lastModifiedBy>Mayur Keni</cp:lastModifiedBy>
  <cp:revision>23</cp:revision>
  <dcterms:created xsi:type="dcterms:W3CDTF">2026-10-11T07:57:19Z</dcterms:created>
  <dcterms:modified xsi:type="dcterms:W3CDTF">2026-10-12T14:57:54Z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